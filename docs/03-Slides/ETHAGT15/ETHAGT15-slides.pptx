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Bem-vindos à fronteira. Hoje: agentes que criam agentes, com segurança.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objetivo é mensurável. O #5 é o mais importante: sair sem achar que é bala de prata.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Culminância técnica. C6 sobe para Intermediário por causa dos riscos novos.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Progressão clara: definir → gerar → otimizar → aprender → controlar riscos.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Criar tensão. A pergunta final engaja — a maioria hesita.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Três fatores convergiram. 2023 foi o ano seminal.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Definição central da aula. Meta-agente age sobre agentes, não sobre ambiente.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Espectro de drasticidade. Sempre começar pelo menos drástico.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Diagrama central da aula. Destacar o loop de validação.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Cinco papers definiram o campo. Padrão comum é evolução aplicada.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Encarar trade-offs de frente. A pergunta é 'usar com quais salvaguardas'.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 correta: depende — com 5 salvaguardas. Anotar votação.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Pegadinha: #3 é meta-agência (optimization). Ajustar config de agente é meta.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Segredo: composição, não criação ex nihilo. Torna auditável.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Templates são o mecanismo de reuso. Versionar tudo.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Passo 4 (validação) é o gargalo. Geração é rápida; eval é lento.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 validação, você está deployando código não-testado em produção.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concreto. Ganho não é só velocidade — é consistência.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central. Se API falhar, mostrar este screenshot. Destacar loop 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Pergunta mais importante: overfitting ao eval. Holdout set é a resposta.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Exercício rápido para fixar critérios além de 'acertou?'.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Seis lições para levar. Eval é o novo bottleneck.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Três razões: exploração sistemática, reprodutibilidade, escala.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Mudança de paradigma: imperativo → declarativo.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Teleprompter é o otimizador. Diferente de fine-tuning (treina pesos).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Evolução direcionada: mutação por LLM + seleção por métrica.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há 'melhor' — depende do problema. Teste 2-3 e escolha com 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Tools também são otimizáveis. Às vezes o problema é a tool, não o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Otimização mais estrutural. Heurísticas &gt; busca exaustiva.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HITL é o que mantém alinhado com objetivo real. Sem audit,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é um ou outro — é ambos. Volume → automático, edge → manual.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Métrica é o árbitro. Métrica ruim → otimização errada.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Memória é retrieval em runtime, não fine-tuning. São complementares.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Sistêmico vê padrões que individual não vê. Cuidado com meta-meta-meta.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Evolução aplicada a config. HITL é obrigatório — sem audit,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canônico. Por que é seguro? Ambiente controlado. Produção não 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Memória obsoleta é pior que nenhuma. Mais memória ≠ sempre melhor.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TTL agressivo + detecção ativa é mais robusto que esquecer tudo.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Diagnosticar antes de remediar. Sintoma é claro, causas são várias.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Mito para quebrar. Não é 'set and forget'.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Fogo: controlado aquece, sem controle queima. Mesma coisa.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max_iter limita risco, não inteligência. Sem ele, bug vira loop infinito.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Risco mais insidioso. Toda métrica é proxy. Múltiplas métricas + auditoria.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Separação de poderes é crítica. Lobo não guarda galinheiro.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Blueprint de segurança. Cada camada filtra um tipo de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 ≠ produção. Shadow e canary pegam problemas que eval não pega.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Veto = hard block em código, não warning em prompt. Binariedade = auditável.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Exercício central. Governors críticos devem ser determinísticos.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Pergunta mais profunda. Objetivo é equilíbrio, não eliminação.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Voyager é o contra-exemplo — quando auto-aprendizado É seguro.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Checklist de pré-voo. Pular um item pode ser fatal.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3 mais perigosos: sem governor, métrica única, deployar sem 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Sete pontos para levar. Governança é o que separa útil de perigoso.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Item mais importante: projetar meta-governor.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 sobre alvo, não capacidade.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Métrica sobe, objetivo real cai.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Policy-as-code é o gate mais barato e rápido.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Usar o tempo restante para discussão em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ETHAGT15 é pré-requisito de ETHAGT16 e ETHAGT90.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Lembrar prazos: Lab 1 (1 semana), Projeto (2 semanas).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nenhuma pergunta: 'Qual parte foi menos clara?' ou 'Qual técnica vão aplicar?'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Meta-Agentes &amp; Sistemas Autoaprendentes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Universidade Etho · Fase D — Fronteira · 15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ETHAGT15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Objetivos do Módulo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Geral: explorar a fronteira dos meta-agentes com conscientização dos riscos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Definir meta-agente, strategy evolver, meta-learning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Implementar sistema onde agente gera agentes especializados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Aplicar otimização automatizada (DSPy, Promptbreeder)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Discutir auto-aprendizado contínuo com memória acumulada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Identificar riscos (recursão, drift, segurança) e mitigações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 / 67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Competências Desenvolvidas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C1 Programação Agêntica → A (Avançado)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C2 Multi-Agent Systems → A (Avançado)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C3 MCP &amp; Tool Use → B (Básico)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C4 Agent Memory → A (Avançado)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C6 Agent Security → I (Intermediário)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 / 67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Agenda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1: Abertura → Meta-Agência → Geração de 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2: Otimização → Auto-Aprendizado → Riscos → Fechamento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7 seções · 67 slides · 90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 / 67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 Fronteira dos Meta-Agentes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Otimização manual não escala: 5 engenheiros × 20 agentes = impraticável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novo domínio = novo agente manual = semanas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Solução: meta-agente que otimiza automaticamente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Fronteira: agente que cria outro agente — onde está o limite?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Você deixaria um agente modificar o próprio prompt?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 / 67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Por Que Meta-Agência Agora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2023: DSPy · Voyager · Promptbreeder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2024: Meta-Prompting · AI Scientist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2025: adoção industrial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Confluência: modelos capazes + frameworks de eval + escala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Canônico: DSPy (arXiv:2310.03714)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 / 67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 Que É Meta-Agência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Agentes que Operam sobre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 comum: opera sobre ambiente (tools, APIs, dados)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Meta-agente: opera sobre agentes (criar, configurar, otimizar)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meta-agente é um agente cujo ambiente é outro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Analogia: compilador é para código o que meta-agente é para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Níveis: agente → meta-agente → meta-meta (cuidado com recursão)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8 / 67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Três Estratégias de Meta-Agência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Synthesis: criar agente do zero (risco médio, reward alto)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Evolution: mutar config existente (risco baixo-médio)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Optimization: ajustar parâmetros finos (risco baixo)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tentar optimization antes de evolution, evolution antes de synthesis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9 / 67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Arquitetura Conceitual do Meta-Agente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tarefa T → Meta-agente → compõe primitivas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→ gera config JSON → validar → instanciar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Primitivas: personas, tools, workflows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Validação é crítica: eval antes de deploy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Loop de feedback (falha → iterar) é o coração do sistema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12-Diagrams/ETHAGT15/meta-agent.mmd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10 / 67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Implementações Reais de Meta-Agência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DSPy (arXiv:2310.03714) — compilação declarativa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Voyager (arXiv:2305.16291) — auto-skills no Minecraft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Promptbreeder (arXiv:2309.16797) — evolução de prompts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Meta-Prompting (arXiv:2311.11402) — decomposição com especialistas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AI Scientist (arXiv:2408.06292) — pesquisa autônoma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Padrão comum: gerar → avaliar → selecionar → iterar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11 / 67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Risco vs Benefício da Meta-Agência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Riscos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Perda de controle (goal drift)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Recursão descontrolada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Opacidade (por que a config é assim?)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Drift para ambiente obsoleto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Segurança: agente remove constraints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Benefícios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Escala: otimizar 100 agentes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Adaptação a mudanças de domínio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Descoberta de configs contraintuitivas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Velocidade: semanas → horas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12 / 67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Você Deixaria um Agente Modificar o Próprio Prompt?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Votação: sim / não / depende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quais condições você aceitaria?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Sandbox? Eval rigoroso? Governor? HITL?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Quem audita as mudanças?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Discussão aberta (2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Votação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13 / 67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É Meta-Agência ou Não?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Agente que escreve código Python → C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Agente que gera prompt para outro → 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Agente que ajusta própria temperatura → 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Agente que busca na web → C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Votação rápida por cenário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 rápido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14 / 67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Geração de Agentes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Meta-Agente que Produz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Input: descrição de tarefa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Output: config completa (prompt + tools + modelo + params)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Primitivas: personas, tools (MCP), workflows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Composição: selecionar + instanciar + configurar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inventa do zero — compõe a partir de biblioteca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16 / 67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Templates e Composição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Template = config parametrizada de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Ex: SupportAgentTemplate(product, kb, escalation_policy)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Composição: combinar templates (suporte + QA)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Biblioteca de templates: catálogo versionado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Vantagens: reuso, consistência, auditabilidade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17 / 67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Pipeline de Geração de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Interpretar tarefa (LLM analisa descrição)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Selecionar primitivas (da biblioteca)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Gerar config (JSON declarativo)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Validar (schema + eval + safety)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Instanciar (criar agente executável)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6. Deploy (confiança incremental)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Falha → feedback → iterar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18 / 67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Validação do Agente Gerado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Confie, mas verifique — gerado ≠ bom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Schema check (config válida?)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Eval em subset (passa nos critérios?)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Safety check (não viola políticas?)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Review humano para mudanças críticas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validação: agente pode ser pior que manual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19 / 67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Caso Prático — Suporte por Produto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Empresa com 10 produtos, cada um precisa de agente de suporte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Manual: 10 engenheiros × 2 semanas = 20 semanas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 meta-agente: 1 engenheiro × 2 dias = 2 dias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Gera: prompt + tools (search_kb, escalate) + config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Validação: 50 casos/produto, aprova se &gt;90%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Resultado: 10 agentes, 92% precisão média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20 / 67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DEMO — Agente que Escreve Agente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$ python meta_agent.py</a:t>
            </a:r>
            <a:br/>
            <a:br/>
            <a:r>
              <a:t>[INPUT]  "preciso de um agente que classifique tickets"</a:t>
            </a:r>
            <a:br/>
            <a:br/>
            <a:r>
              <a:t>[META-AGENT] Interpretando tarefa...</a:t>
            </a:r>
            <a:br/>
            <a:r>
              <a:t>[META-AGENT] Selecionando primitivas: ClassifierPersona, ClassifyTool</a:t>
            </a:r>
            <a:br/>
            <a:r>
              <a:t>[META-AGENT] Gerando config JSON...</a:t>
            </a:r>
            <a:br/>
            <a:br/>
            <a:r>
              <a:t>config = {</a:t>
            </a:r>
            <a:br/>
            <a:r>
              <a:t>  "system_prompt": "Você é um classificador de tickets...",</a:t>
            </a:r>
            <a:br/>
            <a:r>
              <a:t>  "tools": ["classify_ticket"],</a:t>
            </a:r>
            <a:br/>
            <a:r>
              <a:t>  "model": "gpt-4o-mini",</a:t>
            </a:r>
            <a:br/>
            <a:r>
              <a:t>  "temperature": 0.1</a:t>
            </a:r>
            <a:br/>
            <a:r>
              <a:t>}</a:t>
            </a:r>
            <a:br/>
            <a:br/>
            <a:r>
              <a:t>[VALIDATE] Schema check... PASS</a:t>
            </a:r>
            <a:br/>
            <a:r>
              <a:t>[VALIDATE] Eval em 3 casos... 3/3 PASS</a:t>
            </a:r>
            <a:br/>
            <a:r>
              <a:t>[DEPLOY]  Agente instanciado e pronto.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DEMO (5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21 / 67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Perguntas sobre a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agente gerado é pior que um manual?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Como sabemos que o eval cobre casos suficientes?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 se o meta-agente gerar config que funciona no eval mas falha em produção?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Discussão em duplas (2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22 / 67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Critérios de Qualidade para Agentes Gerados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duplas: listar 5 critérios de qualidade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Exemplos: success rate, latência, custo, safety, robustez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Bônus: como detectar overfitting ao eval?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 min listar, 1 min compartilhar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23 / 67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Lições da Geração de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Geração é rápida, validação é o gargalo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Eval de qualidade &gt; velocidade de geração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Templates reduzem variabilidade e aumentam reuso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Comece com domínio estreito, expanda gradualmente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HITL para mudanças críticas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Config gerada deve ser auditável e versionada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24 / 67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Otimização Automatizada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Por Que Otimizar Automaticamente?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Prompts manuais: arte, não ciência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Humanos exploram 5-10 variações; espaço tem milhares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Otimização automática explora centenas em horas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Reprodutível: mesma otimização → mesmo resultado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Escala: 100 agentes em paralelo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26 / 67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DSPy — Compilação Declarativa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DSPy: 'compilar' assinaturas declarativas em prompts otimizados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Analogia: DSPy é para prompts o que compilador é para código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Você escreve o QUE (assinatura), DSPy gera o COMO (prompt)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Assinatura: question -&gt; answer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DSPy escolhe: few-shot examples, formato, instruções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arXiv:2310.03714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27 / 67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DSPy — Teleprompters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Teleprompter = otimizador do DSPy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BootstrapFewShot: seleciona melhores exemplos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MIPRO: otimiza instruções + exemplos via busca bayesiana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Processo: assinatura + métrica + dados → teleprompter → config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Resultado: prompt otimizado sem intervenção manual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28 / 67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Promptbreeder — Evolução de Prompts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Prompts 'reproduzem' e 'mutam' (algoritmo genético)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População inicial → mutação (LLM reescreve) → seleção (eval)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Gerações sucessivas: prompts melhoram com evolução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Mutação guiada por LLM, não aleatória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arXiv:2309.16797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29 / 67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Atlas e Outras Abordagens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Atlas: otimização guiada por árvore de pensamentos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OPRO (Google): meta-prompting gera candidatos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TextGrad: gradientes de texto no pipeline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Padrão comum: gerar → avaliar → selecionar → iterar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Diferença: estratégia de busca (bayesiana, evolutiva, LLM-guided)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30 / 67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Otimização de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Tool description afeta quando e como o modelo a chama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Descrição ruim → modelo não chama ou chama errado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Otimização: reescrever descrições baseada em taxa de erro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Ex: 'Busca documentos' → 'Busca na base interna, use para produtos'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Métrica: tool call accuracy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Loop: medir erro → reescrever → re-avaliar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31 / 67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Otimização de Topologia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Topologia = como agentes estão conectados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Perguntas: N workers ou N-1? Orchestrator ou peer-to-peer?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Ex: 5 workers → 3 + 2 especializados = mesma qualidade, menor custo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Desafio: espaço de topologias é combinatório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comece simples (1-2 agentes), adicione só se eval mostrar necessidade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32 / 67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Loop de Otimização (Strategy Evolver)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estratégia atual → gerar variações → avaliar em subset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melhor que atual? sim: substituir · não: manter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substituir → estratégia atual (loop)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HITL: audit periódico para prevenir drift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Padrão: mutação + seleção + retenção = evolução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12-Diagrams/ETHAGT15/evolution-loop.mmd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33 / 67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Manual vs Automatizado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Manual: lento, não-reprodutível, explora pouco, controlável, transparente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Automatizado: rápido, reprodutível, explora muito, opaco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Recomendação: automatizar para volume, manual para edge cases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 de eval: baixo (manual) vs alto (automatizado)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34 / 67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Quando Otimizar é Melhor?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otimizar: volume alto, métrica clara, espaço grande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manual: volume baixo, métrica subjetiva, domínio novo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Como definir a métrica de avaliação?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Discussão aberta (2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35 / 67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Auto-Aprendizado Contínuo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Memória de Sucesso e Falha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Memória de sucesso: 'esta estratégia funcionou para este tipo'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Memória de falha: 'esta estratégia falhou para este tipo'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Armazenamento: vetor + metadata (tipo, estratégia, outcome, timestamp)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Recuperação: nova tarefa → buscar similar → aplicar bem-sucedida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memória: agente repete os mesmos erros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37 / 67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Reflexion Sistêmico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Individual: agente reflete sobre SUA execução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Sistêmico: meta-agente reflete sobre o SISTEMA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Perguntas: qual agente falha mais? qual tool é subutilizada?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Output: recomendações de mudança estrutural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Na prática, 2 níveis bastam (não recursão infinita)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38 / 67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Strategy Evolver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Componente que evolui estratégias ao longo do tempo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Estratégia = config de agente (prompt + tools + parâmetros)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Processo: população → mutação → avaliar → selecionar → substituir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Diferença vs DSPy: evolver no nível de sistema, DSPy no nível de prompt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HITL: auditoria periódica para prevenir drift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39 / 67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Voyager — Aprendendo Skills no Minecraft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Voyager (arXiv:2305.16291): agente que aprende Minecraft sozinho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 componentes: automatic curriculum, skill library (JS), iterative prompting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Resultado: skills complexas em horas, sem intervenção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Lição: ambiente fechado + feedback automático = viável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Limitação: Minecraft é determinístico e seguro — produção não 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40 / 67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Quando Esquecer — Drift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Drift: ambiente muda, conhecimento antigo vira obsoleto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Conceito: o que era correto não é mais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Dados: distribuição de inputs mudou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Sintomas: success rate cai, erros aumentam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Estratégias: TTL, janela deslizante, detecção ativa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Esquecer é tão importante quanto lembrar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41 / 67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O Que Acontece se o Ambiente Muda?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overfitting ao antigo → performance cai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Como detectar drift automaticamente?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Esquecer tudo ou apenas o relevante?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Discussão em duplas (2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42 / 67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 — Detectar Drift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agente de suporte, 6 meses de memória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Success rate caiu 92% → 78% em 30 dias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duplas: propor 3 estratégias para detectar e mitigar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Ex: comparar distribuição de queries, TTL, re-treinar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 min propor, 1 min compartilhar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43 / 67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Auto-Aprendizado Sempre Melhora?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V/F: 'Auto-aprendizado contínuo sempre melhora.'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FALSO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Razões: overfitting, drift, jogar a métrica, catastrophic forgetting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Precisa: monitoramento + validação + reset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V/F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44 / 67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Lições do Auto-Aprendizado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Memória é poder e risco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Reflexão sistêmica &gt; individual para mudanças estruturais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Strategy evolver = evolução aplicada a configs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Voyager prova que funciona em ambiente controlado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Drift é inevitável — detecção e esquecimento obrigatórios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é bala de prata: precisa governança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45 / 67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Riscos e Governança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Recursão e Auto-Modificação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Meta-agente modifica a si mesmo → loop infinito possível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iteração introduz mudanças cumulativas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Risco: comportamento emergente imprevisível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Mitigação 1: max_iterations (hard limit)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Mitigação 2: diff check (&gt;N% requer aprovação)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Mitigação 3: versionamento + rollback automático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47 / 67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Goal Drift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Goal drift: agente otimiza métrica que diverge do objetivo real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Ex: objetivo 'resolver tickets' vs métrica 'tickets fechados/hora'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 fecha sem resolver para maximizar métrica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Causa: métrica é proxy imperfeito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Detecção: divergência entre métrica e satisfação do usuário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Mitigação: múltiplas métricas, nunca uma única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48 / 67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Meta-Governor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Meta-governor: guardião que avalia mudanças propostas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Separado do meta-agente (não pode auto-aprovar)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Regras: policy-as-code (vetos), sandbox, shadow, canary, rollback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HITL: aprovação humana para mudanças críticas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Governor crítico deve ser determinístico, não 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49 / 67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Safety Fences — Camadas de Defesa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Gate 1: policy-as-code (vetos) — viola? bloqueia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Gate 2: sandbox test — falha? bloqueia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Gate 3: shadow run — não é melhor? bloqueia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Gate 4: canary 5% — degrada? rollback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 camadas = defesa em profundidade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12-Diagrams/ETHAGT15/safety-fences.mmd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50 / 67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Confiança Incremental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Nível 0: Sandbox (dados sintéticos, sem produção)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Nível 1: Shadow run (paralelo, não afeta usuários)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Nível 2: Canary (5% tráfego, monitorado)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Nível 3: Produção gradual (10→50→100%)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Nível 4: Produção total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Princípio: confiança se ganha, não se dá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51 / 67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Vetos — Regras Inegociáveis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veto(change) if change.removes_safety_constraint == true</a:t>
            </a:r>
            <a:br/>
            <a:r>
              <a:t>veto(change) if change.cost_increase &gt; 0.10</a:t>
            </a:r>
            <a:br/>
            <a:r>
              <a:t>veto(change) if change.removes_logging == true</a:t>
            </a:r>
            <a:br/>
            <a:r>
              <a:t>veto(change) if change.new_model not in APPROVED_MODELS</a:t>
            </a:r>
            <a:br/>
            <a:br/>
            <a:r>
              <a:t># Veto é binário: bloqueia ou não.</a:t>
            </a:r>
            <a:br/>
            <a:r>
              <a:t># Não há "quase veto" ou "veto com exceção".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52 / 67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 — Projetar um Meta-Governor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meta-agente modifica o próprio system prompt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trios: projetar meta-governor com regras de veto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Mínimo 3 regras de veto + pipeline de gates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HITL é obrigatório?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Bônus: e se o governor também for agente?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 min design, 2 min compartilhar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 (5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53 / 67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Quando um Meta-Agente Se Torna Perigoso?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Pode modificar suas próprias regras de segurança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Pode escolher sua própria métrica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tem HITL para mudanças críticas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Pode escalar sem canary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Fórmula: perigo = capacidade × autonomia × falta de oversight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Discussão aberta (2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54 / 67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Caso — Voyager (Segurança em Ambiente Fechado)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Voyager é seguro porque: ambiente fechado (sandbox)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Feedback determinístico (crafteou o item?)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consequências reais (erro não causa dano)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Skills são código verificável (auditáveis)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Lição: replicar estas condições em produção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55 / 67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Boas Práticas e Anti-Patterns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Boas Práticas —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Comece com domínio estreito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Sempre valide (eval antes de deploy)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Use confiança incremental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Implemente meta-governor com vetos desde o dia 1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Versionamento de todas as configs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Monitore drift continuamente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HITL para mudanças críticas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Audite memória/skills periodicamente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57 / 67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Anti-Patterns — DON'T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Auto-modificação sem limites (recursão)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Métrica única (goal drift garantido)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Deployar sem eval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Deixar meta-agente escolher própria métrica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rollback automático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Confiança total sem canary/shadow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Ignorar drift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Meta-agente sem governor (auto-aprovação)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58 / 67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Resumo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Meta-agência = agentes sobre agentes (synthesis/evolution/optimization)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Geração = meta-agente + primitivas + validação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Otimização = DSPy + Promptbreeder + Atlas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Auto-aprendizado = memória + reflexion + evolver + drift detection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Riscos = recursão, goal drift, perda de controle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Governança = governor + safety fences + confiança incremental + vetos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59 / 67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Checklist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Definiu meta-agência e 3 estratégias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Implementou geração de agente com validação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Aplicou DSPy ou Promptbreeder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Discutiu auto-aprendizado e drift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Projetou um meta-governor com vetos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Identificou riscos e mitigações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60 / 67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Quiz — Pergunta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Diferença fundamental entre agente e meta-agente?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Meta-agente usa modelo maior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Meta-agente opera sobre 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Meta-agente tem mais tools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Meta-agente é mais rápido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61 / 67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Quiz — Pergunta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que é goal drift?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Agente muda de tarefa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Otimiza métrica que diverge do objetivo real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Agente esquece o objetivo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Agente muda de modelo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62 / 67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Quiz — Pergunta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Primeira camada de defesa em safety fences?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Canary deployment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Shadow run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Policy-as-code (vetos)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Rollback automático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63 / 67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Perguntas para Discussão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Quando otimizar prompts é melhor que reescrever manualmente?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Defina goal drift e proponha detecção automática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Por que meta-governor é necessário?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Em que ponto um meta-agente se torna perigoso?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64 / 67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Conexão com Próximos Módulos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ETHAGT16 — Sociedades de Agentes: meta-agentes em ecossistemas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ETHAGT90 — Capstone: meta-agente como orquestração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ETHAGT14 — Escalabilidade: custo aplicado a meta-agentes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ETHAGT12 — AgentOps: avaliação e observabilidade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65 / 67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Referências, Projeto e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Obrigatório: DSPy (arXiv:2310.03714)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Obrigatório: Promptbreeder (arXiv:2309.16797)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Recomendado: Meta-Prompting (arXiv:2311.11402)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Recomendado: Voyager (arXiv:2305.16291)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Recomendado: AI Scientist (arXiv:2408.06292)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Projeto: otimização automática (DSPy) + benchmark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Lab 1 (4h): Agente que escreve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Próxima aula: ETHAGT16 — Sociedades de Agentes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66 / 67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Q&amp;A / Encerramento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Próxima aula: ETHAGT16 — Sociedades de Agentes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ETHAGT15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