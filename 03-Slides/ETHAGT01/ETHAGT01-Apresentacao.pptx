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Bem-vindos à primeira aula. Hoje estabelecemos o bloco fundamental — Augmented LLM em loop. Não vamos falar de frameworks; vamos falar de arquitetura.</a:t>
            </a:r>
          </a:p>
          <a:p>
            <a:r>
              <a:t>💡 Analogia: aprender a cozinhar vs aprender a usar uma panela. Hoje vocês aprendem a cozinhar.</a:t>
            </a:r>
          </a:p>
          <a:p>
            <a:r>
              <a:t>❓ 'Quantos já usaram framework de agentes em produção?'</a:t>
            </a:r>
          </a:p>
          <a:p>
            <a:r>
              <a:t>⚠️ Alunos chegam querendo LangGraph. Redirecionar: arquitetura &gt; framework.</a:t>
            </a:r>
          </a:p>
          <a:p>
            <a:r>
              <a:t>➡️ Vamos aos objetivos.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Cada objetivo é mensurável: explicar, decompor, implementar, diferenciar, adicionar, avaliar.</a:t>
            </a:r>
          </a:p>
          <a:p>
            <a:r>
              <a:t>❓ 'Qual objetivo vocês acham mais desafiador?' (geralmente #4 ou #6)</a:t>
            </a:r>
          </a:p>
          <a:p>
            <a:r>
              <a:t>⚠️ Alunos confundem 'aprender ReAct' com 'aprender LangGraph'. ReAct é o padrão; LangGraph é instanciação.</a:t>
            </a:r>
          </a:p>
          <a:p>
            <a:r>
              <a:t>➡️ Competências.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O Framework Etho tem 6 competências em 3 níveis. Este módulo toca 4 delas. C1 atinge Intermediário.</a:t>
            </a:r>
          </a:p>
          <a:p>
            <a:r>
              <a:t>💡 Analogia: sair do estacionamento (Básico) e dirigir na cidade (Intermediário).</a:t>
            </a:r>
          </a:p>
          <a:p>
            <a:r>
              <a:t>⚠️ 'Básico' não significa 'superficial' — significa fundação.</a:t>
            </a:r>
          </a:p>
          <a:p>
            <a:r>
              <a:t>➡️ Agenda.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Dois blocos. Primeiro: teoria + demo. Segundo: prática + fechamento. Quiz no final.</a:t>
            </a:r>
          </a:p>
          <a:p>
            <a:r>
              <a:t>➡️ Por que estamos aqui?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LLM puro é como um oráculo — pergunta, responde, acabou. Tarefas reais precisam de loop, tools e memória.</a:t>
            </a:r>
          </a:p>
          <a:p>
            <a:r>
              <a:t>💡 Analogia: consultor de viagens que só pode falar uma vez — não pode pesquisar, ligar, verificar.</a:t>
            </a:r>
          </a:p>
          <a:p>
            <a:r>
              <a:t>❓ Mãos levantadas: 'Quantos já falharam com ChatGPT multi-step?'</a:t>
            </a:r>
          </a:p>
          <a:p>
            <a:r>
              <a:t>⚠️ Alunos acham que 'prompt melhor' resolve. Não resolve — falta loop, tools, memória.</a:t>
            </a:r>
          </a:p>
          <a:p>
            <a:r>
              <a:t>➡️ Por que só agora é viável?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Agentes não são ideia nova — existem desde os anos 90. Mas 4 fatores convergiram: reasoning, tools, context, custo. A Anthropic em dez/2024 sistematizou o que funciona.</a:t>
            </a:r>
          </a:p>
          <a:p>
            <a:r>
              <a:t>💡 Analogia: avião — conceito existia há séculos, mas precisou de motor leve + aerodinâmica + materiais.</a:t>
            </a:r>
          </a:p>
          <a:p>
            <a:r>
              <a:t>❓ 'Qual fator foi o gatilho mais recente?' (Resposta: custo)</a:t>
            </a:r>
          </a:p>
          <a:p>
            <a:r>
              <a:t>⚠️ Alunos acham que agentes são 'novos'. ReAct é de 2022. Novo é a viabilidade econômica.</a:t>
            </a:r>
          </a:p>
          <a:p>
            <a:r>
              <a:t>➡️ Vamos ao bloco fundamental.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Início do bloco de fundamentos. O que muda quando transformamos um LLM em agente?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A palavra 'agente' é problemática — cada um define diferente. Anthropic cunhou 'agentic systems' como guarda-chuva.</a:t>
            </a:r>
          </a:p>
          <a:p>
            <a:r>
              <a:t>💡 Analogia: trem (workflow — trilhos predefinidos) vs táxi (agente — motorista decide o caminho).</a:t>
            </a:r>
          </a:p>
          <a:p>
            <a:r>
              <a:t>❓ 'Qual definição sua equipe usa?'</a:t>
            </a:r>
          </a:p>
          <a:p>
            <a:r>
              <a:t>⚠️ Usar 'agente' para tudo infla expectativas e confunde stakeholders.</a:t>
            </a:r>
          </a:p>
          <a:p>
            <a:r>
              <a:t>➡️ Vamos decompor um agente em partes.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O survey propôs uma taxonomia que cobre todo sistema agêntico. Brain = LLM. Perception = input + tool results. Planning = decompor (ETHAGT04). Action = executar. Tool Use = ACI (ETHAGT02). Collaboration = multi-agente (ETHAGT09).</a:t>
            </a:r>
          </a:p>
          <a:p>
            <a:r>
              <a:t>💡 Analogia: cérebro (Brain), sentidos (Perception), pensar 'primeiro A depois B' (Planning), mover mãos (Action), pegar chave de fenda (Tool Use), pedir ajuda (Collaboration).</a:t>
            </a:r>
          </a:p>
          <a:p>
            <a:r>
              <a:t>❓ 'Qual componente é mais fraco hoje?' (Planning)</a:t>
            </a:r>
          </a:p>
          <a:p>
            <a:r>
              <a:t>⚠️ Alunos acham que 'Brain' é tudo. Sem Perception, agente é cego. Sem Action, é oráculo.</a:t>
            </a:r>
          </a:p>
          <a:p>
            <a:r>
              <a:t>➡️ A transição histórica.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A transição não é 'mais chamadas' — é mudança de paradigma com implicações arquiteturais: estado, memória, orçamento, observabilidade, error handling.</a:t>
            </a:r>
          </a:p>
          <a:p>
            <a:r>
              <a:t>💡 Analogia: pedir prato no restaurante (1 step) vs cozinhar (N steps — planejar, comprar, cortar, cozinhar, provar, ajustar).</a:t>
            </a:r>
          </a:p>
          <a:p>
            <a:r>
              <a:t>⚠️ Alunos subestimam custo. 10 steps × 2k tokens × 1000 usuários/dia = $6k/mês.</a:t>
            </a:r>
          </a:p>
          <a:p>
            <a:r>
              <a:t>➡️ O bloco fundamental.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Este é o slide mais importante. Se só lembrarem de uma coisa: o Augmented LLM é o bloco fundamental de tudo.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O Augmented LLM não é 'LLM + alguma coisa'. É mudança qualitativa: o modelo é ATIVO na decisão.</a:t>
            </a:r>
          </a:p>
          <a:p>
            <a:r>
              <a:t>💡 Analogia: cérebro em jarra (LLM puro) vs cérebro com olhos (retrieval), mãos (tools) e memória. A diferença é autonomia.</a:t>
            </a:r>
          </a:p>
          <a:p>
            <a:r>
              <a:t>❓ 'Qual componente é mais negligenciado em produção?' (Memory)</a:t>
            </a:r>
          </a:p>
          <a:p>
            <a:r>
              <a:t>⚠️ 'LLM + tools' não é Augmented LLM. Faltam retrieval e memory.</a:t>
            </a:r>
          </a:p>
          <a:p>
            <a:r>
              <a:t>➡️ Vamos aprofundar cada componente.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A diferença é a DECISÃO. RAG tradicional sempre recupera — desperdiça tokens. RAG agêntico: o modelo avalia se precisa.</a:t>
            </a:r>
          </a:p>
          <a:p>
            <a:r>
              <a:t>💡 Analogia: estudante que sempre consulta o livro (fixo) vs que sabe quando consultar (agêntico).</a:t>
            </a:r>
          </a:p>
          <a:p>
            <a:r>
              <a:t>❓ 'Em que cenário RAG fixo é melhor?' (quando todas as queries precisam de retrieval)</a:t>
            </a:r>
          </a:p>
          <a:p>
            <a:r>
              <a:t>⚠️ Sem tool de busca explicitamente chamável, o modelo não pode decidir.</a:t>
            </a:r>
          </a:p>
          <a:p>
            <a:r>
              <a:t>➡️ Tools.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Tools são a forma do agente AGIR. Sem tools, só fala. A descrição é crítica — é o que o modelo usa para decidir.</a:t>
            </a:r>
          </a:p>
          <a:p>
            <a:r>
              <a:t>💡 Analogia: manual de ferramentas para um funcionário. Se o manual for confuso, pega a ferramenta errada.</a:t>
            </a:r>
          </a:p>
          <a:p>
            <a:r>
              <a:t>❓ 'O que acontece se duas tools tiverem descrições sobrepostas?' (modelo confunde)</a:t>
            </a:r>
          </a:p>
          <a:p>
            <a:r>
              <a:t>⚠️ Menos tools bem descritas &gt; muitas tools mal descritas.</a:t>
            </a:r>
          </a:p>
          <a:p>
            <a:r>
              <a:t>➡️ Memory.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Memory é o componente mais subestimado. Working = context window. Persistent = checkpointer. A tensão é: mais contexto = melhor decisão mas mais custo.</a:t>
            </a:r>
          </a:p>
          <a:p>
            <a:r>
              <a:t>💡 Analogia: memória de curto prazo (reunião) vs caderno de anotações (consultar depois).</a:t>
            </a:r>
          </a:p>
          <a:p>
            <a:r>
              <a:t>⚠️ Tentar colocar todo o histórico na context window funciona por um tempo, mas custo explode.</a:t>
            </a:r>
          </a:p>
          <a:p>
            <a:r>
              <a:t>➡️ A regra de ouro.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A Anthropic gastou MAIS tempo nas tools do que no prompt principal. Por quê? A tool é o ponto de contato entre modelo e mundo. Se confusa, o modelo erra.</a:t>
            </a:r>
          </a:p>
          <a:p>
            <a:r>
              <a:t>💡 Analogia: design de UI. Se usuários clicam no botão errado, a solução não é 'treinar' — é mover o botão.</a:t>
            </a:r>
          </a:p>
          <a:p>
            <a:r>
              <a:t>❓ 'Já tiveram bug onde a solução era melhorar o prompt mas o problema era a tool?'</a:t>
            </a:r>
          </a:p>
          <a:p>
            <a:r>
              <a:t>⚠️ Passar horas no prompt e 5 min na tool é invertê-lo.</a:t>
            </a:r>
          </a:p>
          <a:p>
            <a:r>
              <a:t>➡️ O Agent Loop.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Augmented LLM é o bloco. O Agent Loop é como o colocamos em movimento. ReAct é o padrão fundacional.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ReAct unifica reasoning (CoT) e acting (tool use). Thought → Action → Observation. A Observation é o grounding — não é alucinável. max_steps é não-negociável.</a:t>
            </a:r>
          </a:p>
          <a:p>
            <a:r>
              <a:t>💡 Analogia: cientista fazendo experimento. Thought = hipótese. Action = experimento. Observation = resultado. Se inesperado, repensa.</a:t>
            </a:r>
          </a:p>
          <a:p>
            <a:r>
              <a:t>❓ 'O que acontece se removermos o Thought?' (modelo chama tools aleatoriamente sem plano)</a:t>
            </a:r>
          </a:p>
          <a:p>
            <a:r>
              <a:t>⚠️ Sem max_steps, loop infinito. Always set max_steps.</a:t>
            </a:r>
          </a:p>
          <a:p>
            <a:r>
              <a:t>➡️ Trace real.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Trace real de ReAct. Note: (1) cada step tem Thought, Action, Observation; (2) Observation é fato; (3) no step 1, modelo decide parar.</a:t>
            </a:r>
          </a:p>
          <a:p>
            <a:r>
              <a:t>💡 Analogia: 'pensar em voz alta' — você vê cada passo do raciocínio.</a:t>
            </a:r>
          </a:p>
          <a:p>
            <a:r>
              <a:t>❓ 'Como saberia se está funcionando sem o trace?' (não saberia)</a:t>
            </a:r>
          </a:p>
          <a:p>
            <a:r>
              <a:t>⚠️ Não logar o Thought = trace opaco. Sem Thought, não sabe POR QUE escolheu aquela action.</a:t>
            </a:r>
          </a:p>
          <a:p>
            <a:r>
              <a:t>➡️ Limitações.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ReAct não é bala de prata. Cada limitação tem mitigação, mas nenhuma é perfeita. ETHAGT04 mostra evoluções: Reflexion, ToT, LATS.</a:t>
            </a:r>
          </a:p>
          <a:p>
            <a:r>
              <a:t>💡 Analogia: limitações de um carro — velocidade, consumo, desgaste. Nenhuma é fatal, mas precisa gerenciar.</a:t>
            </a:r>
          </a:p>
          <a:p>
            <a:r>
              <a:t>❓ 'Qual limitação é mais crítica em produção?' (erro composto — mais difícil de debugar)</a:t>
            </a:r>
          </a:p>
          <a:p>
            <a:r>
              <a:t>⚠️ Sem mitigações, funciona na demo mas não em produção.</a:t>
            </a:r>
          </a:p>
          <a:p>
            <a:r>
              <a:t>➡️ Demo ao vivo.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Demo ao vivo. Prestem atenção em: (a) como o modelo decide qual tool chamar; (b) como o resultado volta; (c) como o modelo decide parar. A query exige 2 calls: 123*456, depois resultado+789.</a:t>
            </a:r>
          </a:p>
          <a:p>
            <a:r>
              <a:t>💡 Analogia: ver o motor com o capô aberto. Depois, LangGraph/CrewAI fará sentido.</a:t>
            </a:r>
          </a:p>
          <a:p>
            <a:r>
              <a:t>❓ Após rodar: 'Viram quantos steps? Por que não 1?' (calculator só faz uma operação por vez)</a:t>
            </a:r>
          </a:p>
          <a:p>
            <a:r>
              <a:t>⚠️ Se API falhar, tenho screenshot do trace.</a:t>
            </a:r>
          </a:p>
          <a:p>
            <a:r>
              <a:t>➡️ Pergunta da demo.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Respostas: (1) Sem try/except, exceção quebra o loop. Solução: capturar e retornar como Observation estruturada. (2) Código entra no 'if not tool_calls' e imprime resposta — mesmo que errada. (3) calculator(**args) falha com KeyError.</a:t>
            </a:r>
          </a:p>
          <a:p>
            <a:r>
              <a:t>💡 Analogia: perguntar 'o que se o pneu furar' antes de dirigir.</a:t>
            </a:r>
          </a:p>
          <a:p>
            <a:r>
              <a:t>⚠️ Modelo não 'sabe' tratar erros — só vê a Observation. Se for traceback de Python, fica confuso.</a:t>
            </a:r>
          </a:p>
          <a:p>
            <a:r>
              <a:t>➡️ Workflows vs Agentes.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Já temos o Augmented LLM e o loop. Agora: QUANDO usar agente vs workflow?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A distinção é sobre QUEM controla o fluxo. Workflow = seu código. Agente = o modelo. Workflow = trilhos de trem. Agente = táxi.</a:t>
            </a:r>
          </a:p>
          <a:p>
            <a:r>
              <a:t>💡 Analogia: receita (workflow) vs cozinhar livre (agente). Receita é previsível. Livre é criativo mas varia.</a:t>
            </a:r>
          </a:p>
          <a:p>
            <a:r>
              <a:t>❓ 'Em que situação usariam agente em vez de workflow?' (passos imprevisíveis, input muito variado)</a:t>
            </a:r>
          </a:p>
          <a:p>
            <a:r>
              <a:t>⚠️ Começar com agente porque é 'mais legal' = sistema caro e imprevisível.</a:t>
            </a:r>
          </a:p>
          <a:p>
            <a:r>
              <a:t>➡️ Os 5 padrões.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5 padrões canônicos da Anthropic. Cada um resolve um problema. Prompt Chaining para sequência linear. Routing para handlers especializados. Parallelization para velocidade/confiabilidade. Orchestrator-Workers para subtasks imprevisíveis. Evaluator-Optimizer para refinamento.</a:t>
            </a:r>
          </a:p>
          <a:p>
            <a:r>
              <a:t>💡 Analogia: padrões de design do GoF — você não usa todos, mas precisa conhecer.</a:t>
            </a:r>
          </a:p>
          <a:p>
            <a:r>
              <a:t>❓ 'Qual já usaram?' (Prompt Chaining e Routing mais comuns)</a:t>
            </a:r>
          </a:p>
          <a:p>
            <a:r>
              <a:t>⚠️ Orchestrator-Workers NÃO é agente — o orquestrador segue fluxo predefinido.</a:t>
            </a:r>
          </a:p>
          <a:p>
            <a:r>
              <a:t>➡️ Árvore de decisão.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A primeira pergunta é a mais importante: 'Consigo listar os passos?' Se sim, workflow. Se não, agente.</a:t>
            </a:r>
          </a:p>
          <a:p>
            <a:r>
              <a:t>💡 Analogia: triagem médica. Resfriado (protocolo fixo = workflow). Diagnóstico complexo (iterativo = agente). Cirurgia (agente + HITL).</a:t>
            </a:r>
          </a:p>
          <a:p>
            <a:r>
              <a:t>❓ 'Pensem no sistema de vocês: workflow ou agente?'</a:t>
            </a:r>
          </a:p>
          <a:p>
            <a:r>
              <a:t>⚠️ 80% dos casos = workflow. Agente é para os 20% que precisam de flexibilidade.</a:t>
            </a:r>
          </a:p>
          <a:p>
            <a:r>
              <a:t>➡️ Escalada de complexidade.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O princípio mais importante: COMECE SIMPLES. A Anthropic é explícita. Cada nível adiciona custo, latência, imprevisibilidade. 90% dos casos = Nível 0.</a:t>
            </a:r>
          </a:p>
          <a:p>
            <a:r>
              <a:t>💡 Analogia: escalada de remédios. Não começa com quimioterapia para dor de cabeça. Começa com paracetamol.</a:t>
            </a:r>
          </a:p>
          <a:p>
            <a:r>
              <a:t>❓ 'Em que nível está o sistema de vocês?'</a:t>
            </a:r>
          </a:p>
          <a:p>
            <a:r>
              <a:t>⚠️ Pular do Nível 0 para o 3 ou 4 porque 'agentes são o futuro' = sistema 10x mais caro.</a:t>
            </a:r>
          </a:p>
          <a:p>
            <a:r>
              <a:t>➡️ Exercício rápido.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Respostas: (1) W — chaining: traduzir → revisar → ajustar. (2) A — cada issue é diferente. (3) W — routing. (4) A — busca iterativa. (5) W — parallelization/voting. (6) A + HITL — alta stakes.</a:t>
            </a:r>
          </a:p>
          <a:p>
            <a:r>
              <a:t>⚠️ Se votam 'agente' em tudo, lembrar: passos previsíveis = workflow.</a:t>
            </a:r>
          </a:p>
          <a:p>
            <a:r>
              <a:t>➡️ Intervalo. Voltamos para frameworks.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Já entendemos o que é um agente e quando usar. Agora COMO implementar: 3 abordagens.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O mesmo agente ReAct em 50, 20 ou 15 linhas. A diferença é o que você vê e controla.</a:t>
            </a:r>
          </a:p>
          <a:p>
            <a:r>
              <a:t>💡 Analogia: carro manual vs automático vs autônomo. Manual: controla tudo. Automático: mais fácil. Autônomo: só diz o destino.</a:t>
            </a:r>
          </a:p>
          <a:p>
            <a:r>
              <a:t>❓ 'Qual para POC de 1 semana? E para produção com 10k usuários?' (POC: SDK. Produção: LangGraph ou Python puro)</a:t>
            </a:r>
          </a:p>
          <a:p>
            <a:r>
              <a:t>⚠️ Escolher SDK para produção porque 'é mais fácil' = problema quando o agente falha e você não sabe por quê.</a:t>
            </a:r>
          </a:p>
          <a:p>
            <a:r>
              <a:t>➡️ Python puro.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Python puro: você é o mestre. Prompt efetivo é EXATAMENTE o que você escreve. Loop é seu. Estado é a lista messages.</a:t>
            </a:r>
          </a:p>
          <a:p>
            <a:r>
              <a:t>💡 Analogia: cozinhar do zero vs mistura de bolo. Do zero controla cada ingrediente.</a:t>
            </a:r>
          </a:p>
          <a:p>
            <a:r>
              <a:t>❓ 'Quem já implementou agente em Python puro?'</a:t>
            </a:r>
          </a:p>
          <a:p>
            <a:r>
              <a:t>⚠️ 'Muito trabalho' — o loop são 15 linhas. O trabalho está nas tools, prompt, error handling. Existe independentemente do framework.</a:t>
            </a:r>
          </a:p>
          <a:p>
            <a:r>
              <a:t>➡️ LangGraph.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LangGraph é o meio-termo. Abstrai loop, estado e tools. Mas você ainda vê o grafo. O que esconde: prompt efetivo.</a:t>
            </a:r>
          </a:p>
          <a:p>
            <a:r>
              <a:t>💡 Analogia: framework web (Flask/FastAPI) vs HTTP puro. Abstrai o repetitivo, deixa ver o importante.</a:t>
            </a:r>
          </a:p>
          <a:p>
            <a:r>
              <a:t>❓ 'Desvantagem de create_react_agent vs StateGraph custom?' (menos controle do loop)</a:t>
            </a:r>
          </a:p>
          <a:p>
            <a:r>
              <a:t>⚠️ Usar create_react_agent sem ler o código fonte = problema quando algo dá errado.</a:t>
            </a:r>
          </a:p>
          <a:p>
            <a:r>
              <a:t>➡️ OpenAI SDK.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OpenAI SDK é a camada mais alta. Máxima produtividade, mínima transparência. Em 5 linhas: agente funcional com tracing.</a:t>
            </a:r>
          </a:p>
          <a:p>
            <a:r>
              <a:t>💡 Analogia: Wix vs codar site. Wix é produtivo. Mas se precisa de controle granular, código do zero.</a:t>
            </a:r>
          </a:p>
          <a:p>
            <a:r>
              <a:t>⚠️ Em produção com compliance: 'o SDK decidiu' não é resposta aceitável.</a:t>
            </a:r>
          </a:p>
          <a:p>
            <a:r>
              <a:t>➡️ Comparação estrutural.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Não há 'vencedor'. Python puro ganha em controle. SDK em produtividade. LangGraph é meio-termo. A escolha depende do contexto.</a:t>
            </a:r>
          </a:p>
          <a:p>
            <a:r>
              <a:t>❓ 'Qual critério é mais importante para vocês?'</a:t>
            </a:r>
          </a:p>
          <a:p>
            <a:r>
              <a:t>⚠️ Focar em 'linhas de código' é o critério MENOS importante.</a:t>
            </a:r>
          </a:p>
          <a:p>
            <a:r>
              <a:t>➡️ Quando reduzir abstração.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Frameworks são ótimos para começar. Em produção, a opacidade vira problema. Se não consegue explicar POR QUE o agente decidiu X, tem problema de auditoria.</a:t>
            </a:r>
          </a:p>
          <a:p>
            <a:r>
              <a:t>💡 Analogia: dirigir sem saber trocar pneu. Na cidade, tudo bem. Na estrada remota, precisa saber.</a:t>
            </a:r>
          </a:p>
          <a:p>
            <a:r>
              <a:t>❓ 'Já disseram alguma dessas frases?'</a:t>
            </a:r>
          </a:p>
          <a:p>
            <a:r>
              <a:t>⚠️ Docs não são código. Ler o código fonte do framework pelo menos uma vez.</a:t>
            </a:r>
          </a:p>
          <a:p>
            <a:r>
              <a:t>➡️ Discussão.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Síntese: (1) Controle: Python puro &gt; LangGraph &gt; SDK. Produtividade: inverso. (2) Produção com auditoria. (3) Custo de manutenção vs desenvolvimento; risco de caixa preta.</a:t>
            </a:r>
          </a:p>
          <a:p>
            <a:r>
              <a:t>⚠️ Transformar em 'meu framework é melhor' — redirecionar: depende do contexto.</a:t>
            </a:r>
          </a:p>
          <a:p>
            <a:r>
              <a:t>➡️ Observabilidade.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Observabilidade não é 'fase de produção'. É algo que você adiciona na PRIMEIRA linha de código.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Sem traces, você só sabe que errou. Com traces, sabe por quê, onde e como corrigir. Em produção, é a diferença entre hotfix de 5 min e 3h de debug.</a:t>
            </a:r>
          </a:p>
          <a:p>
            <a:r>
              <a:t>💡 Analogia: caixa preta de avião. Não espera cair para instalar. Está lá desde o primeiro voo.</a:t>
            </a:r>
          </a:p>
          <a:p>
            <a:r>
              <a:t>❓ 'Têm traces nos sistemas de LLM de vocês hoje?' (maioria não tem)</a:t>
            </a:r>
          </a:p>
          <a:p>
            <a:r>
              <a:t>⚠️ Adicionar logs APÓS o primeiro bug = já perdeu os dados.</a:t>
            </a:r>
          </a:p>
          <a:p>
            <a:r>
              <a:t>➡️ Padrão mínimo.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JSON estruturado com campos padronizados. O thought é a parte mais importante — sem ele, você sabe O QUE fez mas não POR QUÊ.</a:t>
            </a:r>
          </a:p>
          <a:p>
            <a:r>
              <a:t>💡 Analogia: extrato de banco. Cada transação tem data, valor, descrição. Sem extrato, não sabe para onde o dinheiro foi.</a:t>
            </a:r>
          </a:p>
          <a:p>
            <a:r>
              <a:t>⚠️ Logar só Action e Observation, esquecendo Thought = trace opaco.</a:t>
            </a:r>
          </a:p>
          <a:p>
            <a:r>
              <a:t>➡️ Traces.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Trace é como um profile de execução. Cada chamada é um span. A visualização em timeline mostra o que aconteceu, QUANDO e QUANTO TEMPO levou.</a:t>
            </a:r>
          </a:p>
          <a:p>
            <a:r>
              <a:t>💡 Analogia: DevTools do navegador mostrando waterfall. Cada recurso é uma barra. O trace de agente é igual, mas para LLM e tools.</a:t>
            </a:r>
          </a:p>
          <a:p>
            <a:r>
              <a:t>❓ 'Quem já usou LangSmith ou Phoenix?'</a:t>
            </a:r>
          </a:p>
          <a:p>
            <a:r>
              <a:t>⚠️ Log ≠ trace. Log é uma linha. Trace é árvore estruturada com timing e hierarquia.</a:t>
            </a:r>
          </a:p>
          <a:p>
            <a:r>
              <a:t>➡️ Custo e latência.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Custo e latência não são 'detalhes de produção' — são métricas de primeira classe. Sem medir, não sabe se custa $0.01 ou $1.00 por execução.</a:t>
            </a:r>
          </a:p>
          <a:p>
            <a:r>
              <a:t>💡 Analogia: conta de energia. Não espera o fim do mês. Tem medidor em tempo real.</a:t>
            </a:r>
          </a:p>
          <a:p>
            <a:r>
              <a:t>⚠️ Calcular custo só com a primeira chamada. Esquece que o loop multiplica: 10 steps × 2k = 20k tokens.</a:t>
            </a:r>
          </a:p>
          <a:p>
            <a:r>
              <a:t>➡️ Fechamento.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Vamos consolidar tudo em boas práticas, anti-patterns, caso de estudo e quiz.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Cada item é uma lição aprendida da forma difícil em produção. 'Comece simples' é o #1 — Anthropic repete em todo documento.</a:t>
            </a:r>
          </a:p>
          <a:p>
            <a:r>
              <a:t>➡️ Anti-patterns.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Cada anti-pattern é um bug que vi em produção. 'Começar com agente' é o mais comum. 'Sem max_steps' causa loops que custam milhares.</a:t>
            </a:r>
          </a:p>
          <a:p>
            <a:r>
              <a:t>❓ 'Qual já cometeram?'</a:t>
            </a:r>
          </a:p>
          <a:p>
            <a:r>
              <a:t>⚠️ Mesmo times sênior cometem sob pressão de prazo.</a:t>
            </a:r>
          </a:p>
          <a:p>
            <a:r>
              <a:t>➡️ Caso de estudo.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Este caso prova que os conceitos de hoje são reais. A arquitetura é simples: Augmented LLM + loop + ACI + sandbox. 49% significa que em metade das issues, o agente produz um patch que passa nos testes — sem intervenção humana.</a:t>
            </a:r>
          </a:p>
          <a:p>
            <a:r>
              <a:t>💡 Analogia: ver um chef cozinhar. A receita é simples — os mesmos ingredientes. A diferença está na execução.</a:t>
            </a:r>
          </a:p>
          <a:p>
            <a:r>
              <a:t>❓ 'Se a arquitetura é simples, por que nem todo mundo consegue 49%?' (qualidade das tools, prompt, sandbox, modelo)</a:t>
            </a:r>
          </a:p>
          <a:p>
            <a:r>
              <a:t>➡️ A lição ACI.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A solução robusta foi mudar a tool, não o prompt. Aí o modelo NÃO PODE errar, mesmo que queira. Poka-yoke.</a:t>
            </a:r>
          </a:p>
          <a:p>
            <a:r>
              <a:t>💡 Analogia: proteção de tomada. Não ensina a criança (prompt). Coloca a proteção (poka-yoke).</a:t>
            </a:r>
          </a:p>
          <a:p>
            <a:r>
              <a:t>❓ 'Têm algum bug hoje que poderia ser resolvido redesenhando a tool?'</a:t>
            </a:r>
          </a:p>
          <a:p>
            <a:r>
              <a:t>➡️ Exercício de debug.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Problema: agente não processa a Observation. Causas: prompt fraco, contexto não inclui observations, modelo fraco.</a:t>
            </a:r>
          </a:p>
          <a:p>
            <a:r>
              <a:t>Correções: (1) prompt: 'Use informações já obtidas antes de buscar'; (2) código: detecção de repetição (se action == anterior 3x, forçar resposta).</a:t>
            </a:r>
          </a:p>
          <a:p>
            <a:r>
              <a:t>⚠️ 'Aumentar max_steps' não é correção — só faz gastar mais tokens antes de falhar.</a:t>
            </a:r>
          </a:p>
          <a:p>
            <a:r>
              <a:t>➡️ Resumo.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Se só lembrarem de 6 coisas: Augmented LLM é o bloco. ReAct é o padrão. Workflow vs agente é a decisão. Comece simples. ACI é a confiabilidade. Observabilidade é a operação.</a:t>
            </a:r>
          </a:p>
          <a:p>
            <a:r>
              <a:t>➡️ Checklist.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Confirmar que cobri tudo que prometi. Auto-avaliação: se algum item não está claro, é hora de perguntar.</a:t>
            </a:r>
          </a:p>
          <a:p>
            <a:r>
              <a:t>➡️ Quiz.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Se marcou A, ainda confunde framework com arquitetura.</a:t>
            </a:r>
          </a:p>
          <a:p>
            <a:r>
              <a:t>➡️ Próxima.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Grounding = ancorar em fato real. Observation é o único componente não-alucinável.</a:t>
            </a:r>
          </a:p>
          <a:p>
            <a:r>
              <a:t>➡️ Próxima.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Agentes trocam previsibilidade e custo por flexibilidade.</a:t>
            </a:r>
          </a:p>
          <a:p>
            <a:r>
              <a:t>➡️ Próxima.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ACI = Agent-Computer Interface. Design das tools. Poka-yoke.</a:t>
            </a:r>
          </a:p>
          <a:p>
            <a:r>
              <a:t>➡️ Próxima.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Sem observabilidade, não pode debugar, medir custo, ou reproduzir bugs.</a:t>
            </a:r>
          </a:p>
          <a:p>
            <a:r>
              <a:t>➡️ Perguntas de discussão.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Respostas: (1) Falso — Anthropic: 'consider not building agentic systems at all'. (2) Produção com auditoria. (3) Custo 5-10x, latência 10-30s vs 2-5s, workflow é testável. (4) Caixa preta — quando falha, não sabe por quê.</a:t>
            </a:r>
          </a:p>
          <a:p>
            <a:r>
              <a:t>➡️ Conexão.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ETHAGT01 é a fundação. Todo módulo expande um aspecto. A especialização é um zoom progressivo em cada componente do Augmented LLM.</a:t>
            </a:r>
          </a:p>
          <a:p>
            <a:r>
              <a:t>➡️ Leitura.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O Apêndice 2 da Anthropic prepara para ETHAGT02. O paper do ReAct dá a base teórica da demo.</a:t>
            </a:r>
          </a:p>
          <a:p>
            <a:r>
              <a:t>➡️ Referências.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Todas as fontes em 20-Research/ETHAGT01-pesquisa.md. As 3 canônicas (1, 2, 3) são leitura obrigatória.</a:t>
            </a:r>
          </a:p>
          <a:p>
            <a:r>
              <a:t>➡️ Projeto.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A chave não é 'funcionar' — é a COMPARAÇÃO. Justifiquem com dados qual abordagem escolheriam em produção.</a:t>
            </a:r>
          </a:p>
          <a:p>
            <a:r>
              <a:t>➡️ Labs.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O mais importante é ler o Apêndice 2 — é a base da próxima aula.</a:t>
            </a:r>
          </a:p>
          <a:p>
            <a:r>
              <a:t>➡️ Q&amp;A.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Lab 1 é obrigatório antes do projeto. Lab 2 adiciona retrieval e mais tools.</a:t>
            </a:r>
          </a:p>
          <a:p>
            <a:r>
              <a:t>➡️ Encerramento.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Abrir para Q&amp;A. Se não houver perguntas: 'Qual parte foi menos clara?'</a:t>
            </a:r>
          </a:p>
          <a:p>
            <a:r>
              <a:t>Mensagem final: 'O bloco fundamental é o Augmented LLM. Tudo o que vem depois é composição. Se entenderam isso, a especialização vai fluir.'</a:t>
            </a:r>
          </a:p>
          <a:p>
            <a:r>
              <a:t>➡️ Fim da aula.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3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4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5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6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8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9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0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1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E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Segoe UI"/>
              </a:defRPr>
            </a:pPr>
            <a:r>
              <a:t>Arquitetura Cognitiva de Agentes LLM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6B7A8F"/>
                </a:solidFill>
                <a:latin typeface="Segoe UI"/>
              </a:defRPr>
            </a:pPr>
            <a:r>
              <a:t>Universidade Etho · Especialização em Programação Agêntica</a:t>
            </a:r>
            <a:br/>
            <a:r>
              <a:t>Fase A — Fundamentos Agênticos · 25 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029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E85D2F"/>
                </a:solidFill>
                <a:latin typeface="Segoe UI"/>
              </a:defRPr>
            </a:pPr>
            <a:r>
              <a:t>ETHAGT01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943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B7A8F"/>
                </a:solidFill>
                <a:latin typeface="Segoe UI"/>
              </a:defRPr>
            </a:pPr>
            <a:r>
              <a:t>LLM = Large Language Model — Modelo de Linguagem de Grande Escala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Objetivos do Módulo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Objetivo geral: estabelecer o bloco fundamental — Augmented LLM em loop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Objetivos específicos: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1. Explicar a transição de 'LLM como oráculo' para 'controlador cognitivo'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2. Decompor um agente em Perception · Brain · Planning · Action · Tool Use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3. Implementar um agente ReAct do zero (sem framework)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4. Diferenciar workflows de agentes e justificar quando usar cada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5. Adicionar observabilidade mínima desde a primeira implementação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6. Avaliar criticamente 3 frameworks sob a lente dos princípios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035040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980B9"/>
                </a:solidFill>
                <a:latin typeface="Segoe UI"/>
              </a:defRPr>
            </a:pPr>
            <a:r>
              <a:t>ReAct = Reasoning and Acting — padrão onde o agente intercala Thought, Action e Observation em loop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Objetivos mensuráveis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2 / 62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Competências Desenvolvidas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C1 Programação Agêntica → I (Intermediário)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C3 MCP &amp; Tool Use → B (Básico)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C4 Agent Memory → B (Básico)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C5 AgentOps &amp; Avaliação → B (Básico)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C1 atinge Intermediário: constrói agente funcional e justifica escolhas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C3, C4, C5 em Básico: fundação para módulos posteriores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035040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980B9"/>
                </a:solidFill>
                <a:latin typeface="Segoe UI"/>
              </a:defRPr>
            </a:pPr>
            <a:r>
              <a:t>MCP = Model Context Protocol — Protocolo de Contexto de Modelo  ·  AgentOps = Agent Operations — operação e monitoramento de agentes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Conectar ao Framework Etho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3 / 62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Agenda da Aula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Bloco 1 (45 min):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Abertura (8 min) — objetivos, motivação, contexto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Fundamentos (22 min) — Augmented LLM, ReAct, DEMO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Workflows vs Agentes (10 min) — 5 padrões, decisão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Intervalo (5 min)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Bloco 2 (45 min):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Frameworks (15 min) — Python puro vs LangGraph vs OpenAI SDK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Observabilidade (8 min) — traces, logs, custo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Fechamento (12 min) — boas práticas, quiz, Q&amp;A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Roteiro da aula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4 / 62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O Problema do Oráculo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Cenário: 'Reserve voo + hotel + carro para a conferência'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LLM puro (oráculo):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• Responde uma vez e acabou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• Não pode agir (sem tools)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• Não pode verificar (sem environment)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• Não pode iterar (sem loop)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Pergunta: Quantos já tentaram tarefa multi-step com ChatGPT e falharam?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Criar tensão — LLM puro falha em multi-step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5 / 62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Por Que Agora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Linha do tempo: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2020: GPT-3 (linguagem, sem tools)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2022: Chain-of-Thought (reasoning emergente)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Mar/2023: ReAct (Yao et al.)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Jun/2023: Function calling (OpenAI API)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Dez/2024: Anthropic 'Building Effective Agents'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2025: Agent frameworks amadurecem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Confluência de 4 fatores: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1. Reasoning (CoT, ToT, Reflexion)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2. Tool calling estruturado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3. Context window expandida (128k+)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4. Redução de custo (gpt-4o-mini, Haiku)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035040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980B9"/>
                </a:solidFill>
                <a:latin typeface="Segoe UI"/>
              </a:defRPr>
            </a:pPr>
            <a:r>
              <a:t>CoT = Chain-of-Thought — Cadeia de Pensamento  ·  ToT = Tree of Thoughts — Árvore de Pensamentos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Confluência histórica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6 / 62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0" b="1">
                <a:solidFill>
                  <a:srgbClr val="E85D2F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0" y="27432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Do LLM ao Agente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O Que É um Agente?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Definição ampla: sistema autônomo, longo prazo, multi-tool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Definição restritiva: segue workflow predefinido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Recuo pragmático (Anthropic): 'agentic systems' = workflows + agentes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Workflows: LLMs e tools orquestrados via CÓDIGO PREDEFINIDO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Agentes: LLM DIRECIONA seu próprio processo e tool usage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Pergunta: Qual definição sua equipe usa?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Definições concorrentes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8 / 62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Taxonomia Unificada de Agentes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Fonte: arXiv:2601.12560 (Arunkumar et al., 2026)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6 componentes: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1. Perception — como o agente percebe o mundo (input, tool results)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2. Brain — o LLM (motor cognitivo, reasoning)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3. Planning — decompor objetivo em sub-tarefas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4. Action — executar (tool calls, API calls)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5. Tool Use — selecionar e usar ferramentas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6. Collaboration — comunicação com outros agentes/humanos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Taxonomia de 6 componentes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9 / 62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De Geração Única para Controle Cognitivo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Antes (Geração única):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prompt → response (1 step)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Sem estado, sem memória, sem iteração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Custo previsível, latência baixa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Agora (Controle cognitivo):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prompt → plan → act → observe → adapt → ... → response (N steps)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Estado persistente, memória entre steps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Custo variável, latência alta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Erro composto (falha em step N propaga)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035040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980B9"/>
                </a:solidFill>
                <a:latin typeface="Segoe UI"/>
              </a:defRPr>
            </a:pPr>
            <a:r>
              <a:t>HITL = Human-in-the-Loop — Humano no Ciclo (pontos de aprovação humana em ações críticas)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Mudança de paradigma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10 / 62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0" b="1">
                <a:solidFill>
                  <a:srgbClr val="E85D2F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0" y="27432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O Augmented LLM: O Bloco Fundamental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O Augmented LLM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Definição (Anthropic): LLM enhanced with retrieval, tools, and memory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4 componentes: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• LLM — motor cognitivo (reasoning, geração)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• Retrieval — o modelo gera suas próprias queries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• Tools — extensão de ação (APIs, DB, execução)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• Memory — working (context window) vs persistente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Princípio: o MODELO decide quando recuperar, qual tool chamar, o que reter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Interface bem documentada = regra de ouro (ACI)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035040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980B9"/>
                </a:solidFill>
                <a:latin typeface="Segoe UI"/>
              </a:defRPr>
            </a:pPr>
            <a:r>
              <a:t>ACI = Agent-Computer Interface — Interface Agente-Computador (design das tools; análoga à HCI para humanos)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O bloco fundamental de Anthropic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12 / 62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Retrieval In-Loop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RAG tradicional (fixo):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query → retrieve → generate (pipeline predefinido)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Sempre recupera, mesmo para 'oi, tudo bem?'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RAG agêntico (in-loop):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Modelo decide SE e QUANDO recuperar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Modelo gera suas próprias search queries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Pode recuperar múltiplas vezes com queries diferentes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Vantagem: eficiência + flexibilidade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Aprofundamento: ETHAGT06 — RAG Agêntico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035040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980B9"/>
                </a:solidFill>
                <a:latin typeface="Segoe UI"/>
              </a:defRPr>
            </a:pPr>
            <a:r>
              <a:t>RAG = Retrieval-Augmented Generation — Geração Aumentada por Recuperação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Retrieval como decisão do modelo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13 / 62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Tools como Extensão de Ação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Tools = capacidades que o modelo não tem (API, DB, execução, busca)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Tool calling estruturado: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• JSON Schema define nome, descrição, parâmetros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• Modelo gera tool_call com argumentos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• Sistema executa e retorna observation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• Modelo consome a observation e continua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A descrição é o que o modelo usa para decidir QUANDO chamar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Descrição ruim = tool errada chamada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Aprofundamento: ETHAGT02 — ACI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Tool calling estruturado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14 / 62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Memory: Working vs Persistente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Working memory (context window):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• Tudo que o modelo 'vê' no prompt atual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• Efêmera — some quando a sessão acaba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• Limitada (128k-200k tokens, mas custo cresce)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Persistent memory (checkpointer):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• Estado serializado entre sessões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• Postgres, Redis, SQLite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• Permite resumir e retomar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Tensão: mais memória = melhor decisão mas mais custo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Estratégias: summarization, eviction, entity memory (ETHAGT05)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Working vs persistente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15 / 62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A Regra de Ouro: ACI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Princípio (Anthropic): 'Invista tanto esforço em ACI quanto em HCI'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ACI = Agent-Computer Interface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• Como o agente interage com tools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• Descrição de tool = docstring para um júnior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• Poka-yoke: fazer difícil errar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Caso real (SWE-bench):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Problema: agente usava paths relativos errados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Solução: mudaram a tool para exigir paths absolutos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Resultado: erro desapareceu, sem mexer no prompt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Regra: tempo em tools &gt; tempo no prompt principal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035040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980B9"/>
                </a:solidFill>
                <a:latin typeface="Segoe UI"/>
              </a:defRPr>
            </a:pPr>
            <a:r>
              <a:t>HCI = Human-Computer Interface — Interface Humano-Computador  ·  SWE-bench = Software Engineering Benchmark — benchmark de issues reais do GitHub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Princípio ACI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16 / 62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0" b="1">
                <a:solidFill>
                  <a:srgbClr val="E85D2F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0" y="27432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O Agent Loop: ReAct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ReAct: O Padrão Fundacional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Padrão: Thought → Action → Observation em loop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Fonte: Yao et al., ICLR 2023 (arXiv:2210.03629)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Por que funciona: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• Thought força reasoning explícito (não pular para ação)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• Action executa no ambiente (grounding)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• Observation traz fato real (não alucinável)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• Loop permite adaptação (se inesperado, repensar)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Guardrails: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• max_steps — limite de iterações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• max_cost — orçamento de tokens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• timeout — limite de tempo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Padrão ReAct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18 / 62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E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Trace Real de Execução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A9DCFC"/>
                </a:solidFill>
                <a:latin typeface="Consolas"/>
              </a:defRPr>
            </a:pPr>
            <a:r>
              <a:t>[STEP 0]</a:t>
            </a:r>
            <a:br/>
            <a:r>
              <a:t>  Thought: "Preciso saber a previsão do tempo no RJ"</a:t>
            </a:r>
            <a:br/>
            <a:r>
              <a:t>  Action: search("previsão tempo Rio de Janeiro amanhã")</a:t>
            </a:r>
            <a:br/>
            <a:r>
              <a:t>  Observation: "25°C, possibilidade de chuva à tarde"</a:t>
            </a:r>
            <a:br/>
            <a:br/>
            <a:r>
              <a:t>[STEP 1]</a:t>
            </a:r>
            <a:br/>
            <a:r>
              <a:t>  Thought: "Agora posso responder sobre o clima"</a:t>
            </a:r>
            <a:br/>
            <a:r>
              <a:t>  Action: (sem tool_call — resposta final)</a:t>
            </a:r>
            <a:br/>
            <a:r>
              <a:t>  Answer: "Leve guarda-chuva. Amanhã no RJ: 25°C com</a:t>
            </a:r>
            <a:br/>
            <a:r>
              <a:t>          possibilidade de chuva à tarde."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Trace real de ReAct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19 / 62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Limitações do ReAct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1. Loops infinitos — sem max_steps, repete indefinidamente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2. Custo cumulativo — cada iteração adiciona tokens ao contexto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3. Alucinação em ação — modelo chama tool inexistente ou args errados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4. Latência serial — N steps = N × latência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5. Erro composto — falha em step N propaga para N+1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6. Context exhaustion — em conversas longas, context window enche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Mitigações: max_steps, summarization, validação de args, retry, traces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Limitações honestas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20 / 62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E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DEMO: ReAct em 50 Linhas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A9DCFC"/>
                </a:solidFill>
                <a:latin typeface="Consolas"/>
              </a:defRPr>
            </a:pPr>
            <a:r>
              <a:t>import json, os</a:t>
            </a:r>
            <a:br/>
            <a:r>
              <a:t>from openai import OpenAI</a:t>
            </a:r>
            <a:br/>
            <a:br/>
            <a:r>
              <a:t>client = OpenAI(api_key=os.getenv("LLM_API_KEY"))</a:t>
            </a:r>
            <a:br/>
            <a:br/>
            <a:r>
              <a:t>TOOLS = [{</a:t>
            </a:r>
            <a:br/>
            <a:r>
              <a:t>    "type": "function",</a:t>
            </a:r>
            <a:br/>
            <a:r>
              <a:t>    "function": {</a:t>
            </a:r>
            <a:br/>
            <a:r>
              <a:t>        "name": "calculator",</a:t>
            </a:r>
            <a:br/>
            <a:r>
              <a:t>        "description": "Executa operação aritmética",</a:t>
            </a:r>
            <a:br/>
            <a:r>
              <a:t>        "parameters": {</a:t>
            </a:r>
            <a:br/>
            <a:r>
              <a:t>            "type": "object",</a:t>
            </a:r>
            <a:br/>
            <a:r>
              <a:t>            "properties": {</a:t>
            </a:r>
            <a:br/>
            <a:r>
              <a:t>                "a": {"type": "number"},</a:t>
            </a:r>
            <a:br/>
            <a:r>
              <a:t>                "b": {"type": "number"},</a:t>
            </a:r>
            <a:br/>
            <a:r>
              <a:t>                "op": {"type": "string", "enum": ["+","-","*","/"]}</a:t>
            </a:r>
            <a:br/>
            <a:r>
              <a:t>            },</a:t>
            </a:r>
            <a:br/>
            <a:r>
              <a:t>            "required": ["a", "b", "op"]</a:t>
            </a:r>
            <a:br/>
            <a:r>
              <a:t>        }</a:t>
            </a:r>
            <a:br/>
            <a:r>
              <a:t>    }</a:t>
            </a:r>
            <a:br/>
            <a:r>
              <a:t>}]</a:t>
            </a:r>
            <a:br/>
            <a:br/>
            <a:r>
              <a:t>def calculator(a, b, op):</a:t>
            </a:r>
            <a:br/>
            <a:r>
              <a:t>    return {"+":a+b, "-":a-b, "*":a*b, "/":a/b if b else "erro"}[op]</a:t>
            </a:r>
            <a:br/>
            <a:br/>
            <a:r>
              <a:t>messages = [</a:t>
            </a:r>
            <a:br/>
            <a:r>
              <a:t>    {"role": "system", "content": "Você é um agente ReAct."},</a:t>
            </a:r>
            <a:br/>
            <a:r>
              <a:t>    {"role": "user", "content": "Quanto é 123 * 456 + 789?"}</a:t>
            </a:r>
            <a:br/>
            <a:r>
              <a:t>]</a:t>
            </a:r>
            <a:br/>
            <a:br/>
            <a:r>
              <a:t>max_steps = 5</a:t>
            </a:r>
            <a:br/>
            <a:r>
              <a:t>for step in range(max_steps):</a:t>
            </a:r>
            <a:br/>
            <a:r>
              <a:t>    response = client.chat.completions.create(</a:t>
            </a:r>
            <a:br/>
            <a:r>
              <a:t>        model="gpt-4o-mini", messages=messages, tools=TOOLS, tool_choice="auto")</a:t>
            </a:r>
            <a:br/>
            <a:r>
              <a:t>    msg = response.choices[0].message</a:t>
            </a:r>
            <a:br/>
            <a:r>
              <a:t>    messages.append(msg)</a:t>
            </a:r>
            <a:br/>
            <a:r>
              <a:t>    if not msg.tool_calls:</a:t>
            </a:r>
            <a:br/>
            <a:r>
              <a:t>        print(f"Resposta: {msg.content}")</a:t>
            </a:r>
            <a:br/>
            <a:r>
              <a:t>        break</a:t>
            </a:r>
            <a:br/>
            <a:r>
              <a:t>    for tc in msg.tool_calls:</a:t>
            </a:r>
            <a:br/>
            <a:r>
              <a:t>        args = json.loads(tc.function.arguments)</a:t>
            </a:r>
            <a:br/>
            <a:r>
              <a:t>        result = calculator(**args)</a:t>
            </a:r>
            <a:br/>
            <a:r>
              <a:t>        print(f"Passo {step}: {tc.function.name}({args}) = {result}")</a:t>
            </a:r>
            <a:br/>
            <a:r>
              <a:t>        messages.append({"role":"tool","tool_call_id":tc.id,"content":str(result)})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Demo ao vivo — ReAct em Python puro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21 / 62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85D2F"/>
                </a:solidFill>
                <a:latin typeface="Segoe UI"/>
              </a:defRPr>
            </a:pPr>
            <a:r>
              <a:t>Pergunta da Demo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71600"/>
            <a:ext cx="10972800" cy="4572000"/>
          </a:xfrm>
          <a:prstGeom prst="roundRect">
            <a:avLst/>
          </a:prstGeom>
          <a:solidFill>
            <a:srgbClr val="FEF3C7"/>
          </a:solidFill>
          <a:ln w="25400">
            <a:solidFill>
              <a:srgbClr val="D4A0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Em duplas (2 min):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1. O que acontece se a tool retornar erro? Quem trata?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2. E se o modelo não chamar tool nenhuma?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3. E se o modelo chamar uma tool que não existe?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Discussão em duplas + compartilhar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Exercício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22 / 62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0" b="1">
                <a:solidFill>
                  <a:srgbClr val="E85D2F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0" y="27432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Workflows vs Agentes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Workflows vs Agentes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Workflows: LLMs e tools orquestrados via CÓDIGO PREDEFINIDO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→ Previsível, testável, barato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→ Limitação: inflexível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Agentes: LLM DIRECIONA seu próprio processo e tool usage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→ Flexível, adaptativo, poderoso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→ Limitação: imprevisível, caro, difícil de testar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Fonte: Anthropic, Building Effective Agents (2024)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Critério: comece com workflow; só use agente quando necessário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Distinção canônica de Anthropic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24 / 62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Os 5 Workflows Canônicos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1. Prompt Chaining — sequência de steps (gerar → revisar → traduzir)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2. Routing — classificar e dispatch (tipo de query → handler)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3. Parallelization — sectioning (dividir) ou voting (múltiplas tentativas)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4. Orchestrator-Workers — orquestrador delega dinamicamente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5. Evaluator-Optimizer — loop de refinamento (gerar → avaliar → melhorar)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Aprofundamento: ETHAGT03 — Padrões de Workflow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5 padrões canônicos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25 / 62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Árvore de Decisão: Workflow ou Agente?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Q1: Consigo listar os passos a priori?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Sim → WORKFLOW (comece pelo padrão mais simples)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Não → Q2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Q2: O número de passos é previsível?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Sim, mas variável → Q3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Não → AGENTE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Q3: Posso confiar no modelo sem HITL?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Sim → AGENTE (autônomo)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Não → AGENTE + HITL forte (checkpoints críticos)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Critério de decisão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26 / 62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A Escalada de Complexidade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Nível 0: Single LLM call + retrieval + examples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→ 90% dos casos. Antes de tudo, tente isto.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Nível 1: Workflow simples (prompt chaining, routing)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Nível 2: Workflow complexo (orchestrator-workers, evaluator-optimizer)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Nível 3: Agente autônomo (modelo controla o fluxo)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Nível 4: Multi-agente (múltiplos agentes colaborando)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Regra: só suba um nível com EVIDÊNCIA de que o atual é insuficiente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Princípio: comece simples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27 / 62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85D2F"/>
                </a:solidFill>
                <a:latin typeface="Segoe UI"/>
              </a:defRPr>
            </a:pPr>
            <a:r>
              <a:t>Exercício: Workflow ou Agente?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71600"/>
            <a:ext cx="10972800" cy="4572000"/>
          </a:xfrm>
          <a:prstGeom prst="roundRect">
            <a:avLst/>
          </a:prstGeom>
          <a:solidFill>
            <a:srgbClr val="FEF3C7"/>
          </a:solidFill>
          <a:ln w="25400">
            <a:solidFill>
              <a:srgbClr val="D4A0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Votação rápida (mãos levantadas):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1. 'Traduzir documentação técnica EN→PT' → W ou A?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2. 'Resolver issue de GitHub arbitrário' → W ou A?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3. 'Classificar ticket de suporte' → W ou A?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4. 'Pesquisar e sintetizar tema novo' → W ou A?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5. 'Revisar código em busca de bugs' → W ou A?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6. 'Negociar contrato com fornecedor' → W ou A?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Exercício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28 / 62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0" b="1">
                <a:solidFill>
                  <a:srgbClr val="E85D2F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0" y="27432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Implementação: Do Zero vs Framework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O Mesmo Agente, 3 Implementações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Versão 1: Python puro + OpenAI SDK (~50 linhas)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Controle total, transparência total, mais código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Versão 2: LangGraph (~20 linhas)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StateGraph + checkpointer embutido, abstrai loop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Versão 3: OpenAI Agents SDK (~15 linhas)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Agent(model, tools, instructions) → run()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Máxima produtividade, mínima transparência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Menos código ≠ melhor — depende do CONTROLE que você precisa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3 implementações do mesmo agente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30 / 62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E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Python Puro: Controle Total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A9DCFC"/>
                </a:solidFill>
                <a:latin typeface="Consolas"/>
              </a:defRPr>
            </a:pPr>
            <a:r>
              <a:t># Loop principal — você controla tudo</a:t>
            </a:r>
            <a:br/>
            <a:r>
              <a:t>max_steps = 5</a:t>
            </a:r>
            <a:br/>
            <a:r>
              <a:t>for step in range(max_steps):</a:t>
            </a:r>
            <a:br/>
            <a:r>
              <a:t>    response = client.chat.completions.create(</a:t>
            </a:r>
            <a:br/>
            <a:r>
              <a:t>        model="gpt-4o-mini",</a:t>
            </a:r>
            <a:br/>
            <a:r>
              <a:t>        messages=messages,</a:t>
            </a:r>
            <a:br/>
            <a:r>
              <a:t>        tools=TOOLS,</a:t>
            </a:r>
            <a:br/>
            <a:r>
              <a:t>        tool_choice="auto"</a:t>
            </a:r>
            <a:br/>
            <a:r>
              <a:t>    )</a:t>
            </a:r>
            <a:br/>
            <a:r>
              <a:t>    msg = response.choices[0].message</a:t>
            </a:r>
            <a:br/>
            <a:r>
              <a:t>    messages.append(msg)</a:t>
            </a:r>
            <a:br/>
            <a:br/>
            <a:r>
              <a:t>    if not msg.tool_calls:</a:t>
            </a:r>
            <a:br/>
            <a:r>
              <a:t>        print(f"Resposta: {msg.content}")</a:t>
            </a:r>
            <a:br/>
            <a:r>
              <a:t>        break</a:t>
            </a:r>
            <a:br/>
            <a:br/>
            <a:r>
              <a:t>    for tc in msg.tool_calls:</a:t>
            </a:r>
            <a:br/>
            <a:r>
              <a:t>        args = json.loads(tc.function.arguments)</a:t>
            </a:r>
            <a:br/>
            <a:r>
              <a:t>        result = calculator(**args)</a:t>
            </a:r>
            <a:br/>
            <a:r>
              <a:t>        messages.append({</a:t>
            </a:r>
            <a:br/>
            <a:r>
              <a:t>            "role": "tool",</a:t>
            </a:r>
            <a:br/>
            <a:r>
              <a:t>            "tool_call_id": tc.id,</a:t>
            </a:r>
            <a:br/>
            <a:r>
              <a:t>            "content": str(result)</a:t>
            </a:r>
            <a:br/>
            <a:r>
              <a:t>        })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Python puro — controle total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31 / 62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E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LangGraph: Abstração Controlada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A9DCFC"/>
                </a:solidFill>
                <a:latin typeface="Consolas"/>
              </a:defRPr>
            </a:pPr>
            <a:r>
              <a:t>from langgraph.prebuilt import create_react_agent</a:t>
            </a:r>
            <a:br/>
            <a:br/>
            <a:r>
              <a:t># 2 linhas e você tem um agente ReAct</a:t>
            </a:r>
            <a:br/>
            <a:r>
              <a:t>agent = create_react_agent(</a:t>
            </a:r>
            <a:br/>
            <a:r>
              <a:t>    model="gpt-4o-mini",</a:t>
            </a:r>
            <a:br/>
            <a:r>
              <a:t>    tools=TOOLS</a:t>
            </a:r>
            <a:br/>
            <a:r>
              <a:t>)</a:t>
            </a:r>
            <a:br/>
            <a:br/>
            <a:r>
              <a:t>result = agent.invoke({</a:t>
            </a:r>
            <a:br/>
            <a:r>
              <a:t>    "messages": [</a:t>
            </a:r>
            <a:br/>
            <a:r>
              <a:t>        {"role": "user", "content": "Quanto é 123*456+789?"}</a:t>
            </a:r>
            <a:br/>
            <a:r>
              <a:t>    ]</a:t>
            </a:r>
            <a:br/>
            <a:r>
              <a:t>})</a:t>
            </a:r>
            <a:br/>
            <a:br/>
            <a:r>
              <a:t># O que LangGraph abstrai:</a:t>
            </a:r>
            <a:br/>
            <a:r>
              <a:t>#   - Loop (StateGraph com nodes e edges)</a:t>
            </a:r>
            <a:br/>
            <a:r>
              <a:t>#   - Estado (Checkpointer embutido)</a:t>
            </a:r>
            <a:br/>
            <a:r>
              <a:t>#   - Tools (ToolNode wrapper)</a:t>
            </a:r>
            <a:br/>
            <a:r>
              <a:t>#</a:t>
            </a:r>
            <a:br/>
            <a:r>
              <a:t># O que esconde:</a:t>
            </a:r>
            <a:br/>
            <a:r>
              <a:t>#   - Prompt efetivo (framework adiciona system prompt)</a:t>
            </a:r>
            <a:br/>
            <a:r>
              <a:t>#   - Formato exato das messages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LangGraph — meio-termo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32 / 62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E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OpenAI Agents SDK: Máxima Produtividade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A9DCFC"/>
                </a:solidFill>
                <a:latin typeface="Consolas"/>
              </a:defRPr>
            </a:pPr>
            <a:r>
              <a:t>from agents import Agent, Runner</a:t>
            </a:r>
            <a:br/>
            <a:br/>
            <a:r>
              <a:t># 4 linhas — máximo de abstração</a:t>
            </a:r>
            <a:br/>
            <a:r>
              <a:t>agent = Agent(</a:t>
            </a:r>
            <a:br/>
            <a:r>
              <a:t>    name="Calculator Agent",</a:t>
            </a:r>
            <a:br/>
            <a:r>
              <a:t>    instructions="Você é um agente ReAct.",</a:t>
            </a:r>
            <a:br/>
            <a:r>
              <a:t>    tools=[calculator_tool]</a:t>
            </a:r>
            <a:br/>
            <a:r>
              <a:t>)</a:t>
            </a:r>
            <a:br/>
            <a:br/>
            <a:r>
              <a:t>result = Runner.run_sync(</a:t>
            </a:r>
            <a:br/>
            <a:r>
              <a:t>    agent,</a:t>
            </a:r>
            <a:br/>
            <a:r>
              <a:t>    "Quanto é 123 * 456 + 789?"</a:t>
            </a:r>
            <a:br/>
            <a:r>
              <a:t>)</a:t>
            </a:r>
            <a:br/>
            <a:br/>
            <a:r>
              <a:t># O que abstrai: TUDO</a:t>
            </a:r>
            <a:br/>
            <a:r>
              <a:t>#   - Loop, estado, tools, handoffs,</a:t>
            </a:r>
            <a:br/>
            <a:r>
              <a:t>#     guardrails, tracing nativo</a:t>
            </a:r>
            <a:br/>
            <a:r>
              <a:t>#</a:t>
            </a:r>
            <a:br/>
            <a:r>
              <a:t># O que esconde: QUASE TUDO</a:t>
            </a:r>
            <a:br/>
            <a:r>
              <a:t>#   - Prompt efetivo (caixa preta)</a:t>
            </a:r>
            <a:br/>
            <a:r>
              <a:t>#   - Lógica de loop (interna)</a:t>
            </a:r>
            <a:br/>
            <a:r>
              <a:t>#   - Serialização de estado (opaca)</a:t>
            </a:r>
            <a:br/>
            <a:r>
              <a:t>#</a:t>
            </a:r>
            <a:br/>
            <a:r>
              <a:t># Quando usar: POC rápido, demos</a:t>
            </a:r>
            <a:br/>
            <a:r>
              <a:t># Quando NÃO usar: produção com auditoria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OpenAI SDK — máxima abstração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33 / 62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3A5E"/>
                </a:solidFill>
                <a:latin typeface="Segoe UI"/>
              </a:defRPr>
            </a:pPr>
            <a:r>
              <a:t>Comparação Estrutural: 3 Abordagens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C0392B"/>
                </a:solidFill>
                <a:latin typeface="Segoe UI"/>
              </a:defRPr>
            </a:pPr>
            <a:r>
              <a:t>Python Puro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01168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Controle do prompt: ✅ Total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Transparência: ✅ Total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Estado: ❌ Manual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Tools: ✅ Você valida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Linhas: ~50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Debug: ✅ Granular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Multi-agente: ❌ Manual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3716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D8659"/>
                </a:solidFill>
                <a:latin typeface="Segoe UI"/>
              </a:defRPr>
            </a:pPr>
            <a:r>
              <a:t>LangGraph / SDK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201168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Controle do prompt: ⚠️ Parcial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Transparência: ✅/❌ Alto/Baixo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Estado: ✅ Embutido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Tools: ⚠️ Wrapper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Linhas: ~20/~15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Debug: ✅/❌ Limitado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Multi-agente: ✅ Nativo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Tabela comparativa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34 / 62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Quando Reduzir Camadas de Abstração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Sinais de alerta (se você disser qualquer um, reduza abstração):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'Não entendo por que o agente fez X'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'O prompt efetivo é diferente do que escrevi'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'Custo inesperado — não sei onde os tokens vão'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'Latência inexplicável — não sei qual step está lento'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'Não consigo reproduzir o bug localmente'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Regra da Anthropic: 'Ensure you understand the underlying code'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Em produção: a opacidade se torna problema de auditoria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Quando reduzir abstração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35 / 62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85D2F"/>
                </a:solidFill>
                <a:latin typeface="Segoe UI"/>
              </a:defRPr>
            </a:pPr>
            <a:r>
              <a:t>Discussão: Qual Framework?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71600"/>
            <a:ext cx="10972800" cy="4572000"/>
          </a:xfrm>
          <a:prstGeom prst="roundRect">
            <a:avLst/>
          </a:prstGeom>
          <a:solidFill>
            <a:srgbClr val="FEF3C7"/>
          </a:solidFill>
          <a:ln w="25400">
            <a:solidFill>
              <a:srgbClr val="D4A0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Perguntas para discussão aberta (3 min):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1. Qual framework dá mais controle? E mais produtividade?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2. Em que cenário você NÃO usaria framework?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3. Como convencer um PM de que Python puro é melhor?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Síntese: não há 'melhor' — há o certo para o contexto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Exercício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36 / 62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0" b="1">
                <a:solidFill>
                  <a:srgbClr val="E85D2F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0" y="27432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Observabilidade Desde o Dia 1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Por Que Desde o Dia 1?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Sem traces: melhoria é adivinhação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'O agente errou' — por quê? Qual step? Qual tool?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'Custo subiu' — onde? Qual step consumiu mais?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'Latência alta' — em qual step?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Com traces: você vê o pensamento do agente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Cada Thought, Action, Observation logado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Custo e latência por step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Possível reproduzir e debugar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Em produção: debugging sem traces = impossível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Por que observabilidade desde o início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38 / 62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E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Logging Estruturado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A9DCFC"/>
                </a:solidFill>
                <a:latin typeface="Consolas"/>
              </a:defRPr>
            </a:pPr>
            <a:r>
              <a:t>import json, time</a:t>
            </a:r>
            <a:br/>
            <a:br/>
            <a:r>
              <a:t>def log_step(step, thought, action, args, obs, usage):</a:t>
            </a:r>
            <a:br/>
            <a:r>
              <a:t>    log = {</a:t>
            </a:r>
            <a:br/>
            <a:r>
              <a:t>        "timestamp": time.isoformat(),</a:t>
            </a:r>
            <a:br/>
            <a:r>
              <a:t>        "step": step,</a:t>
            </a:r>
            <a:br/>
            <a:r>
              <a:t>        "thought": thought,</a:t>
            </a:r>
            <a:br/>
            <a:r>
              <a:t>        "action": action,</a:t>
            </a:r>
            <a:br/>
            <a:r>
              <a:t>        "args": args,</a:t>
            </a:r>
            <a:br/>
            <a:r>
              <a:t>        "observation": obs,</a:t>
            </a:r>
            <a:br/>
            <a:r>
              <a:t>        "tokens_in": usage.prompt_tokens,</a:t>
            </a:r>
            <a:br/>
            <a:r>
              <a:t>        "tokens_out": usage.completion_tokens,</a:t>
            </a:r>
            <a:br/>
            <a:r>
              <a:t>        "cost_usd": (usage.prompt_tokens * 0.15</a:t>
            </a:r>
            <a:br/>
            <a:r>
              <a:t>                    + usage.completion_tokens * 0.60) / 1_000_000,</a:t>
            </a:r>
            <a:br/>
            <a:r>
              <a:t>        "latency_ms": elapsed</a:t>
            </a:r>
            <a:br/>
            <a:r>
              <a:t>    }</a:t>
            </a:r>
            <a:br/>
            <a:r>
              <a:t>    print(json.dumps(log, ensure_ascii=False))</a:t>
            </a:r>
            <a:br/>
            <a:br/>
            <a:r>
              <a:t># Campos mínimos:</a:t>
            </a:r>
            <a:br/>
            <a:r>
              <a:t>#   timestamp, step, thought, action, args,</a:t>
            </a:r>
            <a:br/>
            <a:r>
              <a:t>#   observation, tokens_in, tokens_out, cost, latency</a:t>
            </a:r>
            <a:br/>
            <a:br/>
            <a:r>
              <a:t># Evolução:</a:t>
            </a:r>
            <a:br/>
            <a:r>
              <a:t>#   print → structured logs → LangSmith / Phoenix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Padrão mínimo de logging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39 / 62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Traces: O Que São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Trace = árvore de spans que representa a execução completa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Span = unidade atômica: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• Nome (ex: 'LLM call', 'tool: calculator')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• Duração (start → end)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• Input e Output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• Metadata (tokens, cost, model)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Estrutura hierárquica: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Agent Run (root span)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├── LLM Call #1 → Tool: calculator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├── LLM Call #2 → Tool: calculator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└── LLM Call #3 (answer)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Ferramentas: LangSmith, Phoenix, Langfuse, OpenTelemetry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Conceito de trace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40 / 62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Custo e Latência como Métricas de Primeira Classe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Custo por step: tokens_in × price_in + tokens_out × price_out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Ex: gpt-4o-mini = $0.15/1M in + $0.60/1M out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10 steps × 2k tokens = ~$0.006 por execução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1000 execuções/dia = $6/dia = $180/mês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Latência cumulativa (serial):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Cada step espera o anterior → latência_total = Σ latência_step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10 steps × 2s = 20s total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Dashboard mínimo: step, tokens, custo, latência p50/p95/p99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Em produção: orçamento por execução (max_cost), alertas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Custo e latência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41 / 62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0" b="1">
                <a:solidFill>
                  <a:srgbClr val="E85D2F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0" y="27432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Boas Práticas e Fechamento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Boas Práticas (DO)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✅ Comece simples — single LLM call antes de agente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✅ Documente tools como se fosse para um júnior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✅ Defina max_steps desde o dia 1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✅ Log estruturado desde a primeira linha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✅ Sandbox para execução de tools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✅ HITL em pontos críticos (ações irreversíveis)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✅ Otimize o prompt efetivo, não apenas o que você escreve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✅ Entenda o framework — leia o código fonte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✅ Meça custo e latência por step desde o início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✅ Teste em sandbox antes de produção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Checklist de boas práticas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43 / 62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Anti-Patterns (DON'T)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❌ Começar com agente quando workflow basta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❌ Adicionar complexidade sem evidência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❌ Confiar no framework cegamente ('caixa preta')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❌ Não definir max_steps (loop infinito)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❌ Não logar (debug cego)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❌ Tool mal documentada (ACI fraca)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❌ Prompt gigante sem estrutura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❌ Não testar em sandbox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❌ Não medir custo ('descobri no fim do mês')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❌ Esquecer error handling (tool quebra → agente morre)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❌ Não ter fallback (se API cai, agente trava)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Checklist de anti-patterns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44 / 62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Caso: Anthropic Coding Agent no SWE-bench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SWE-bench: benchmark que mede capacidade de resolver issues de GitHub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Issues de Django, scikit-learn, sympy, etc.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O coding agent da Anthropic: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Input: texto da issue (PR description)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Output: patch (diff) que passa nos testes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Arquitetura: Augmented LLM + loop + ACI + sandbox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Não há 'magia' — é o que vimos hoje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Resultados: Claude 3.5 Sonnet ~49% no SWE-bench Verified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Por que é agente (não workflow):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Cada issue é diferente — não dá para predefinir passos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Caso real — SWE-bench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45 / 62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A Lição ACI do SWE-bench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Problema: agente saía do diretório raiz e usava paths relativos errados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Solução ingênua: 'melhorar o prompt para dizer use paths absolutos'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→ Frágil: modelo pode esquecer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→ Não escalável: um novo prompt para cada edge case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Solução robusta: mudar a TOOL para exigir paths absolutos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→ Poka-yoke: erro impossível pela design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→ Escalável: funciona independentemente do prompt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Citação: 'We spent more time optimizing our tools than the overall prompt'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— Anthropic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Lição ACI — SWE-bench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46 / 62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85D2F"/>
                </a:solidFill>
                <a:latin typeface="Segoe UI"/>
              </a:defRPr>
            </a:pPr>
            <a:r>
              <a:t>Exercício: Debug de Trace Quebrado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71600"/>
            <a:ext cx="10972800" cy="4572000"/>
          </a:xfrm>
          <a:prstGeom prst="roundRect">
            <a:avLst/>
          </a:prstGeom>
          <a:solidFill>
            <a:srgbClr val="FEF3C7"/>
          </a:solidFill>
          <a:ln w="25400">
            <a:solidFill>
              <a:srgbClr val="D4A0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Analise o seguinte trace: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[STEP 0] Thought: "Vou buscar o preço do produto X"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       Action: search_price("Produto X")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       Observation: "Produto X: R$ 99,90"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[STEP 1] Thought: "Vou buscar o preço do produto X"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       Action: search_price("Produto X")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       Observation: "Produto X: R$ 99,90"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[STEP 2-4] (mesmo padrão repetido)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[STEP 5] max_steps reached. Abortando.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Em duplas: (1) identificar o loop (2) propor 2 correções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Exercício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47 / 62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Resumo da Aula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1. Augmented LLM = bloco fundamental (LLM + retrieval + tools + memory)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2. ReAct = padrão fundacional (Thought → Action → Observation)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3. Workflow vs Agente = decisão arquitetural (previsibilidade vs flexibilidade)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4. Comece simples — só aumente complexidade com evidência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5. ACI é onde mora a confiabilidade (tempo em tools &gt; tempo no prompt)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6. Observabilidade desde o dia 1 (traces, custo, latência)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6 pontos-chave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48 / 62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Checklist da Aula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[ ] Definiu agente vs workflow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[ ] Explicou Augmented LLM (4 componentes)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[ ] Apresentou taxonomia unificada (6 componentes)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[ ] Implementou ReAct do zero (demo)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[ ] Comparou 3 frameworks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[ ] Discutiu quando reduzir abstração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[ ] Adicionou logging estruturado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[ ] Introduziu traces e custo/latência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[ ] Discutiu boas práticas e anti-patterns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[ ] Analisou caso real (SWE-bench)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[ ] Fez exercício de debug de trace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[ ] Conectou com próximos módulos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Confirmar cobertura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49 / 62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Quiz 1/5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Qual é o bloco fundamental de qualquer sistema agêntico?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A) Um framework como LangGraph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B) O Augmented LLM (LLM + retrieval + tools + memory)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C) Um prompt bem escrito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D) Um modelo grande o suficiente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Resposta: 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Quiz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50 / 62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Quiz 2/5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Em ReAct, o que força o grounding do modelo?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A) O prompt do sistema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B) A temperatura baixa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C) A Observation (resultado real da tool)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D) O max_steps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Resposta: 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Quiz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51 / 62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Quiz 3/5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Quando DEVERIA usar um agente em vez de workflow?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A) Quando a tarefa tem passos predefinidos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B) Quando precisa de previsibilidade total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C) Quando os passos são imprevisíveis e exigem flexibilidade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D) Quando o custo precisa ser mínimo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Resposta: 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Quiz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52 / 62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Quiz 4/5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O que é ACI?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A) Agent Communication Interface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B) Agent-Computer Interface (design de tools)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C) Automated Code Injection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D) Agent Control Infrastructure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Resposta: 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Quiz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53 / 62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Quiz 5/5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Qual é a PRIMEIRA coisa a adicionar a um agente em produção?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A) Um framework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B) Múltiplas tools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C) Observabilidade (logs estruturados + traces)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D) HITL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Resposta: 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Quiz 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54 / 62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Perguntas para Discussão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1. 'Toda aplicação de LLM deveria ser um agente?' (V/F justificado)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2. 'Em que cenário Python puro é melhor que LangGraph?'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3. 'Como convencer um PM de que workflow basta e agente é overkill?'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4. 'Qual o maior risco de começar com framework sem entender o básico?'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Discussão profunda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55 / 62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Conexão com a Especialização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ETHAGT02 — Tool Calling e ACI (aprofunda ferramentas)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ETHAGT03 — Padrões de Workflow (os 5 padrões em detalhe)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ETHAGT04 — Reasoning &amp; Planning (Reflexion, ToT, LATS)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ETHAGT05 — Memória de Agentes (working vs persistente)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ETHAGT06 — RAG Agêntico (retrieval in-loop aprofundado)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ETHAGT08 — MCP (tool use como padrão de servidor)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ETHAGT09-10 — Multi-Agentes (Collaboration)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ETHAGT12 — AgentOps (observabilidade em profundidade)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ETHAGT13 — Segurança (tools como vetor de ataque)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035040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980B9"/>
                </a:solidFill>
                <a:latin typeface="Segoe UI"/>
              </a:defRPr>
            </a:pPr>
            <a:r>
              <a:t>LATS = Language Agent Tree Search — Busca em Árvore com LLM (combina MCTS com LLM para explorar ações)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Mapa da especialização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56 / 62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Leitura Recomendada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Obrigatório (antes de ETHAGT02):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• Anthropic, Building Effective Agents (2024)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  Foco: Apêndice 2 'Prompt Engineering your Tools'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• Yao et al., ReAct (ICLR 2023) — arXiv:2210.03629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  Foco: Seção 3 (method)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Recomendado: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• arXiv:2601.12560 — survey de arquiteturas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• Schluntz &amp; Albert (YouTube) — Building more effective AI agents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Opcional: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• Karpathy, Software 3.0 (talks)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• HuggingFace Agents Course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Leitura obrigatória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57 / 62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Referências Completas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1. Anthropic. Building Effective Agents. 2024. anthropic.com/engineering/building-effective-agents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2. Yao et al. ReAct. ICLR 2023. arXiv:2210.03629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3. Arunkumar et al. Agentic AI. arXiv:2601.12560, 2026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4. Schick et al. Toolformer. NeurIPS 2023. arXiv:2302.04761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5. Jimenez et al. SWE-bench. arXiv:2310.06770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6. Shinn et al. Reflexion. NeurIPS 2023. arXiv:2303.11366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7. Wang et al. Survey on LLM Agents. arXiv:2308.11432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8. OpenAI. Practical Guide to Building Agents. 2024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9. LangGraph docs. github.com/langchain-ai/langgraph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10. Anthropic. Effective Context Engineering for AI Agents. 2025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Referências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58 / 62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Projeto do Módulo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Implementar 'research assistant' em 3 versões: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1. Python puro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2. LangGraph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3. Framework à escolha (OpenAI SDK / CrewAI / PydanticAI)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O agente decide: responder direto, recuperar de base local, ou usar tool de busca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Entrega: repo + README comparativo + traces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Critério: justificar escolha com ≥3 critérios (controle, transparência, esforço)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Prazo: 2 semanas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Avaliação: Técnico 40% / Consultivo 30% / Comportamental 20% / Prático 10%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Projeto do módulo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59 / 62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Próximos Passos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1. Ler: Anthropic Building Effective Agents (15 min)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 Foco no Apêndice 2 (ACI)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2. Ler: ReAct paper — arXiv:2210.03629 (20 min)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3. Rodar: exemplo ReAct do repositório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 19-Examples/ETHAGT01/exemplo-01-react-loop/main.py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4. Iniciar: Lab 1 — 'ReAct em 50 linhas'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5. Próxima aula: ETHAGT02 — Tool Calling e ACI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Próximos passos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60 / 62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Labs do Módulo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Lab 1 (4h): 'ReAct em 50 linhas'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Implementar agent loop em Python puro com tool de cálculo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Entrega: repo + trace de exemplo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Lab 2 (4h): 'Augmented LLM'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Adicionar retrieval (ChromaDB/Qdrant) + 2 tools ao Lab 1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O agente decide quando recuperar vs usar tool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Entrega: agente funcional + traces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Ambos individuais. Usar 19-Examples/ETHAGT01/ como referência.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Labs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61 / 62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E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Segoe UI"/>
              </a:defRPr>
            </a:pPr>
            <a:r>
              <a:t>Perguntas?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6B7A8F"/>
                </a:solidFill>
                <a:latin typeface="Segoe UI"/>
              </a:defRPr>
            </a:pPr>
            <a:r>
              <a:t>ETHAGT01 — Arquitetura Cognitiva de Agentes LLM</a:t>
            </a:r>
            <a:br/>
            <a:r>
              <a:t>Próxima aula: ETHAGT02 — Tool Calling e ACI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029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E85D2F"/>
                </a:solidFill>
                <a:latin typeface="Segoe UI"/>
              </a:defRPr>
            </a:pPr>
            <a:r>
              <a:t>Universidade Etho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