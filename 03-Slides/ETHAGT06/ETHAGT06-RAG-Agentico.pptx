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Bem-vindos. Vamos evoluir do RAG ingênuo — que funciona na demo e quebra em produção — para o RAG agêntico. 4 arquiteturas: Adaptive, CRAG, Self-RAG, Agentic.</a:t>
            </a:r>
          </a:p>
          <a:p>
            <a:r>
              <a:t>💡 Analogia: estagiário que sempre busca no mesmo arquivo vs pesquisador sênior que decide quando consultar, avalia a fonte, reflete sobre a resposta.</a:t>
            </a:r>
          </a:p>
          <a:p>
            <a:r>
              <a:t>❓ 'Quantos já usaram RAG em produção?'</a:t>
            </a:r>
          </a:p>
          <a:p>
            <a:r>
              <a:t>⚠️ Alunos querem pular para Agentic. Redirecionar: comece com Adaptive.</a:t>
            </a:r>
          </a:p>
          <a:p>
            <a:r>
              <a:t>➡️ Vamos aos objetivos.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objetivo é mensurável: diagnosticar, implementar, aplicar, construir, produzir.</a:t>
            </a:r>
          </a:p>
          <a:p>
            <a:r>
              <a:t>💡 Analogia: checklist de pré-voo.</a:t>
            </a:r>
          </a:p>
          <a:p>
            <a:r>
              <a:t>❓ 'Qual objetivo é mais desafiador?' (costuma ser #2 ou #4)</a:t>
            </a:r>
          </a:p>
          <a:p>
            <a:r>
              <a:t>⚠️ 'Fazer RAG agêntico' ≠ 'usar LangGraph'. Arquitetura &gt; framework.</a:t>
            </a:r>
          </a:p>
          <a:p>
            <a:r>
              <a:t>➡️ Vamos às competências.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C1 Avançado = escolher arquitetura certa e justificar trade-offs.</a:t>
            </a:r>
          </a:p>
          <a:p>
            <a:r>
              <a:t>💡 Analogia: ETHAGT01 foi sair do estacionamento; ETHAGT04 foi a cidade; hoje é rodovia com trânsito intenso.</a:t>
            </a:r>
          </a:p>
          <a:p>
            <a:r>
              <a:t>⚠️ 'Avançado' ≠ 'saber LangGraph avançado'. Significa justificar com trade-offs.</a:t>
            </a:r>
          </a:p>
          <a:p>
            <a:r>
              <a:t>➡️ Vamos à agenda.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Bloco 1 é a escalada (Adaptive → CRAG → Self-RAG). Bloco 2 é consolidação.</a:t>
            </a:r>
          </a:p>
          <a:p>
            <a:r>
              <a:t>💡 Analogia: escalada. Bloco 1 = subida; Bloco 2 = cume e descida.</a:t>
            </a:r>
          </a:p>
          <a:p>
            <a:r>
              <a:t>⚠️ Avisar: Seção B (RAG Ingênuo Falha) motiva tudo.</a:t>
            </a:r>
          </a:p>
          <a:p>
            <a:r>
              <a:t>➡️ Vamos conectar com ETHAGT04.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ETHAGT04 = pipeline fixo. Hoje: agente decide se/o quê/como recuperar.</a:t>
            </a:r>
          </a:p>
          <a:p>
            <a:r>
              <a:t>💡 Analogia: ETHAGT04 = cozinhar com receita; hoje = cozinhar sem receita, adaptando.</a:t>
            </a:r>
          </a:p>
          <a:p>
            <a:r>
              <a:t>⚠️ Sem ETHAGT04? Recap rápido de embeddings e top-k.</a:t>
            </a:r>
          </a:p>
          <a:p>
            <a:r>
              <a:t>➡️ Mas por que estamos falando disso?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RAG ingênuo falha SILENCIOSAMENTE: sem erro 500, sem crash. Responde com confiança alta mesmo errado.</a:t>
            </a:r>
          </a:p>
          <a:p>
            <a:r>
              <a:t>💡 Analogia: médico que sempre dá diagnóstico confiante, mesmo sem saber.</a:t>
            </a:r>
          </a:p>
          <a:p>
            <a:r>
              <a:t>❓ 'Quantos já usaram RAG e obtiveram resposta errada com alta confiança?'</a:t>
            </a:r>
          </a:p>
          <a:p>
            <a:r>
              <a:t>⚠️ 'Prompt melhor' não resolve — problema é sistêmico.</a:t>
            </a:r>
          </a:p>
          <a:p>
            <a:r>
              <a:t>➡️ Como evoluímos?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 evolução: cada arquitetura adiciona um checkpoint de decisão.</a:t>
            </a:r>
          </a:p>
          <a:p>
            <a:r>
              <a:t>💡 Analogia: piloto automático. Fixo = segue rota; Adaptive = decide se desvia; CRAG = avalia rota; Self-RAG = reflete se voa bem; Agentic = pilota tudo.</a:t>
            </a:r>
          </a:p>
          <a:p>
            <a:r>
              <a:t>❓ 'Qual desses papers vocês já leram?'</a:t>
            </a:r>
          </a:p>
          <a:p>
            <a:r>
              <a:t>⚠️ Confundem Self-RAG com CRAG. Self-RAG = modelo reflete; CRAG = pipeline avalia.</a:t>
            </a:r>
          </a:p>
          <a:p>
            <a:r>
              <a:t>➡️ Vamos diagnosticar as falhas.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Transição: vamos desconstruir o pipeline ingênuo e identificar 4 classes de falha.</a:t>
            </a:r>
          </a:p>
          <a:p>
            <a:r>
              <a:t>➡️ Primeiro: o pipeline e seus pontos de falha.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Pipeline sem NENHUMA reflexão sobre qualidade. Cada etapa confia na anterior.</a:t>
            </a:r>
          </a:p>
          <a:p>
            <a:r>
              <a:t>💡 Analogia: linha de montagem sem controle de qualidade.</a:t>
            </a:r>
          </a:p>
          <a:p>
            <a:r>
              <a:t>❓ 'Em qual etapa vocês tiveram mais problemas?' (search ou generate)</a:t>
            </a:r>
          </a:p>
          <a:p>
            <a:r>
              <a:t>⚠️ Focar só no generate é erro — retrieval é o gargalo mais subestimado.</a:t>
            </a:r>
          </a:p>
          <a:p>
            <a:r>
              <a:t>➡️ Vamos detalhar as 4 falhas.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 chunk é o átomo do RAG. Átomo ruim = molécula ruim.</a:t>
            </a:r>
          </a:p>
          <a:p>
            <a:r>
              <a:t>💡 Analogia: cortar livro a cada 500 palavras sem olhar capítulos.</a:t>
            </a:r>
          </a:p>
          <a:p>
            <a:r>
              <a:t>❓ 'Qual tamanho de chunk vocês usam?'</a:t>
            </a:r>
          </a:p>
          <a:p>
            <a:r>
              <a:t>⚠️ Overlap de 50 tokens resolve pouco se o conceito tem 800 tokens.</a:t>
            </a:r>
          </a:p>
          <a:p>
            <a:r>
              <a:t>➡️ Mesmo com chunking bom, embedding tem limites.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Embeddings têm cegueira semântica: aprendem co-ocorrência, não significado.</a:t>
            </a:r>
          </a:p>
          <a:p>
            <a:r>
              <a:t>💡 Analogia: duas pessoas descrevendo a mesma coisa com palavras diferentes.</a:t>
            </a:r>
          </a:p>
          <a:p>
            <a:r>
              <a:t>❓ 'Já tiveram problema de sinônimos no RAG?'</a:t>
            </a:r>
          </a:p>
          <a:p>
            <a:r>
              <a:t>⚠️ 'Embedding melhor' resolve pouco — query rewriting e hybrid são mais impactantes.</a:t>
            </a:r>
          </a:p>
          <a:p>
            <a:r>
              <a:t>➡️ Mesmo com embedding bom, top-k traz lixo.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'Mais próximo' ≠ 'mais relevante'. Top-k é aproximação.</a:t>
            </a:r>
          </a:p>
          <a:p>
            <a:r>
              <a:t>💡 Analogia: pedir 5 livros por título parecido e receber 1 bom + 4 inúteis.</a:t>
            </a:r>
          </a:p>
          <a:p>
            <a:r>
              <a:t>❓ 'Vocês usam re-rank hoje?' (provavelmente minoria)</a:t>
            </a:r>
          </a:p>
          <a:p>
            <a:r>
              <a:t>⚠️ Aumentar k PIORA sem re-rank. Mais contexto ≠ melhor.</a:t>
            </a:r>
          </a:p>
          <a:p>
            <a:r>
              <a:t>➡️ Mas a pior falha é não saber que está falhando.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 métricas, não sabe se melhorou ou piorou. Sem holdout, sem regressão.</a:t>
            </a:r>
          </a:p>
          <a:p>
            <a:r>
              <a:t>💡 Analogia: melhorar receita sem provar o resultado.</a:t>
            </a:r>
          </a:p>
          <a:p>
            <a:r>
              <a:t>❓ 'Vocês têm dataset de holdout?' (provavelmente &lt;30%)</a:t>
            </a:r>
          </a:p>
          <a:p>
            <a:r>
              <a:t>⚠️ 'A resposta parece certa' é subjetivo. Precisamos de métricas automáticas.</a:t>
            </a:r>
          </a:p>
          <a:p>
            <a:r>
              <a:t>➡️ Essas 4 falhas alimentam um mito.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'Vector DB resolve tudo' é o mito mais caro da indústria.</a:t>
            </a:r>
          </a:p>
          <a:p>
            <a:r>
              <a:t>💡 Analogia: 'Excel resolve tudo'. Ótimo para planilhas, péssimo para edição de vídeo.</a:t>
            </a:r>
          </a:p>
          <a:p>
            <a:r>
              <a:t>❓ 'Pior falha: não responder ou responder errado com confiança?' (responder errado — usuário age sobre info falsa)</a:t>
            </a:r>
          </a:p>
          <a:p>
            <a:r>
              <a:t>⚠️ Embedar tabelas como texto funciona mal. SQL retrieval é melhor.</a:t>
            </a:r>
          </a:p>
          <a:p>
            <a:r>
              <a:t>➡️ Agora que sabemos onde falha, vamos construir: Adaptive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Primeira evolução: em vez de SEMPRE recuperar, decide SE recuperar.</a:t>
            </a:r>
          </a:p>
          <a:p>
            <a:r>
              <a:t>➡️ A ideia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MUITAS perguntas não precisam de retrieval. 'Quem é o presidente?' o GPT-4 sabe.</a:t>
            </a:r>
          </a:p>
          <a:p>
            <a:r>
              <a:t>💡 Analogia: médico triagista. Nem todo paciente precisa de exames.</a:t>
            </a:r>
          </a:p>
          <a:p>
            <a:r>
              <a:t>❓ 'Pensem numa pergunta que o modelo sabe sem retrieval.'</a:t>
            </a:r>
          </a:p>
          <a:p>
            <a:r>
              <a:t>⚠️ 'Sempre recuperar' NÃO é mais seguro — recuperação irrelevante é ruído.</a:t>
            </a:r>
          </a:p>
          <a:p>
            <a:r>
              <a:t>➡️ Mas quando decidimos recuperar, quanto?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Top-k fixo é preguiça arquitetural. k deve ser dinâmico.</a:t>
            </a:r>
          </a:p>
          <a:p>
            <a:r>
              <a:t>💡 Analogia: pedir referências. Pergunta simples = 1 fonte; tese = 50.</a:t>
            </a:r>
          </a:p>
          <a:p>
            <a:r>
              <a:t>⚠️ Aumentar k sem re-rank: top-20 com 3 bons e 17 ruins. Mais contexto ≠ melhor.</a:t>
            </a:r>
          </a:p>
          <a:p>
            <a:r>
              <a:t>➡️ Como classificamos? Estratégias de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Sweet spot: LLM leve (GPT-4o-mini, Haiku) com structured output. Regras para óbvios.</a:t>
            </a:r>
          </a:p>
          <a:p>
            <a:r>
              <a:t>💡 Analogia: triagem de central. Regras para casos óbvios + humano para ambíguos.</a:t>
            </a:r>
          </a:p>
          <a:p>
            <a:r>
              <a:t>⚠️ Usar LLM para perguntas óbvias é desperdício. Regras bastam para 'quem é X?'.</a:t>
            </a:r>
          </a:p>
          <a:p>
            <a:r>
              <a:t>➡️ Vamos ver o diagrama.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Coração é o classificador (nó de decisão). 3 caminhos convergem para 'gerar resposta'.</a:t>
            </a:r>
          </a:p>
          <a:p>
            <a:r>
              <a:t>💡 Analogia: restaurante com 3 cardápios. Garçom (classificador) decide.</a:t>
            </a:r>
          </a:p>
          <a:p>
            <a:r>
              <a:t>❓ 'Qual caminho será mais usado?' (depende, geralmente 'simples')</a:t>
            </a:r>
          </a:p>
          <a:p>
            <a:r>
              <a:t>⚠️ Classificador muito complexo = erro. Comece com 3 classes.</a:t>
            </a:r>
          </a:p>
          <a:p>
            <a:r>
              <a:t>➡️ Vamos concretizar com exemplos.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Vamos praticar a decisão. 3 exemplos, 3 caminhos diferentes.</a:t>
            </a:r>
          </a:p>
          <a:p>
            <a:r>
              <a:t>💡 Analogia: GPS que decide rota. Às vezes escolhe beco sem saída. CRAG recalcula.</a:t>
            </a:r>
          </a:p>
          <a:p>
            <a:r>
              <a:t>⚠️ Confiar 100% no classificador é erro. ~85% de acerto é bom; 15% precisam de correção.</a:t>
            </a:r>
          </a:p>
          <a:p>
            <a:r>
              <a:t>➡️ Como implementar?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StateGraph com nós route_query, retrieve, generate. Conditional edge direciona.</a:t>
            </a:r>
          </a:p>
          <a:p>
            <a:r>
              <a:t>💡 Analogia: circuito com interruptores.</a:t>
            </a:r>
          </a:p>
          <a:p>
            <a:r>
              <a:t>⚠️ Não coloque lógica de classificação no prompt do generate. Separe em nó próprio.</a:t>
            </a:r>
          </a:p>
          <a:p>
            <a:r>
              <a:t>➡️ Limitações do Adaptive.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Adaptive resolve 'recuperar quando não precisa', mas NÃO 'recuperar lixo'.</a:t>
            </a:r>
          </a:p>
          <a:p>
            <a:r>
              <a:t>💡 Analogia: médico que sabe QUANDO pedir exames, mas não interpreta resultados ruins.</a:t>
            </a:r>
          </a:p>
          <a:p>
            <a:r>
              <a:t>➡️ Vamos praticar a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Gabarito: 1=D, 2=R, 3=D, 4=R+rewrite, 5=D.</a:t>
            </a:r>
          </a:p>
          <a:p>
            <a:r>
              <a:t>❓ Votar em cada uma. Anotar divergências.</a:t>
            </a:r>
          </a:p>
          <a:p>
            <a:r>
              <a:t>⚠️ Pergunta 4 gera dúvida: precisa de duas buscas + rewrite.</a:t>
            </a:r>
          </a:p>
          <a:p>
            <a:r>
              <a:t>➡️ Vocês fizeram o trabalho do classificador. Agora, e se o retrieval trouxer lixo? CRAG.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Segunda evolução: CRAG adiciona avaliador de relevância. Controle de qualidade que faltava.</a:t>
            </a:r>
          </a:p>
          <a:p>
            <a:r>
              <a:t>➡️ A ideia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CRAG adiciona avaliação ANTES de gerar. Se docs são bons, usa; se parciais, refina; se ruins, web.</a:t>
            </a:r>
          </a:p>
          <a:p>
            <a:r>
              <a:t>💡 Analogia: cozinheiro que prova ingredientes antes de cozinhar.</a:t>
            </a:r>
          </a:p>
          <a:p>
            <a:r>
              <a:t>❓ 'Em qual caso de vocês o CRAG seria útil?'</a:t>
            </a:r>
          </a:p>
          <a:p>
            <a:r>
              <a:t>⚠️ CRAG não é 'adaptive com web'. O coração é o AVALIADOR, não o web fallback.</a:t>
            </a:r>
          </a:p>
          <a:p>
            <a:r>
              <a:t>➡️ Como funciona o avaliador?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Para cada doc, atribui classe: correto/ambíguo/incorreto. Agregação decide caminho.</a:t>
            </a:r>
          </a:p>
          <a:p>
            <a:r>
              <a:t>💡 Analogia: jurado que vota culpado/inocente/dúvida.</a:t>
            </a:r>
          </a:p>
          <a:p>
            <a:r>
              <a:t>⚠️ Threshold binário (relevante/não) é menos informativo. 3 classes permitem caminho 'refinar'.</a:t>
            </a:r>
          </a:p>
          <a:p>
            <a:r>
              <a:t>➡️ Vamos ver os 3 caminhos.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Caminho 1 (verde): usar direto. Caminho 2 (amarelo): refinement. Caminho 3 (azul): web.</a:t>
            </a:r>
          </a:p>
          <a:p>
            <a:r>
              <a:t>💡 Analogia: pesquisador. Achou referência perfeita → usa. Artigo parcial → extrai útil. Nada na biblioteca → Google Scholar.</a:t>
            </a:r>
          </a:p>
          <a:p>
            <a:r>
              <a:t>➡️ Diagrama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Avaliador é camada de controle de qualidade entre retrieve e generate.</a:t>
            </a:r>
          </a:p>
          <a:p>
            <a:r>
              <a:t>💡 Analogia: esteira de fábrica com estação de inspeção.</a:t>
            </a:r>
          </a:p>
          <a:p>
            <a:r>
              <a:t>❓ 'Qual caminho será mais comum?' (sim, se base é boa)</a:t>
            </a:r>
          </a:p>
          <a:p>
            <a:r>
              <a:t>⚠️ CRAG NÃO busca sempre na web. Web é ÚLTIMO recurso.</a:t>
            </a:r>
          </a:p>
          <a:p>
            <a:r>
              <a:t>➡️ Detalhando cada caminho.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Caminho feliz. ~80% dos casos em base curada. Overhead: 1 chamada de LLM (avaliador).</a:t>
            </a:r>
          </a:p>
          <a:p>
            <a:r>
              <a:t>💡 Analogia: controle de qualidade que aprova 95%. Parece desperdício, mas evita recall caro.</a:t>
            </a:r>
          </a:p>
          <a:p>
            <a:r>
              <a:t>➡️ E quando os docs são parcialmente bons?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Decompor doc em sentenças, re-avaliar cada uma, ficar com as relevantes. Contexto limpo.</a:t>
            </a:r>
          </a:p>
          <a:p>
            <a:r>
              <a:t>💡 Analogia: peneirar areia. Pá com pedras → areia fina.</a:t>
            </a:r>
          </a:p>
          <a:p>
            <a:r>
              <a:t>⚠️ Refinement sem re-avaliar é só heurística (tamanho), não relevância.</a:t>
            </a:r>
          </a:p>
          <a:p>
            <a:r>
              <a:t>➡️ E quando os docs são completamente irrelevantes?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Web é plano B, não padrão. Ativa quando base local falha completamente.</a:t>
            </a:r>
          </a:p>
          <a:p>
            <a:r>
              <a:t>💡 Analogia: enciclopédia física sem verbete → internet.</a:t>
            </a:r>
          </a:p>
          <a:p>
            <a:r>
              <a:t>❓ 'Quando CRAG decide buscar na web?' (quando avaliador diz 'incorreto')</a:t>
            </a:r>
          </a:p>
          <a:p>
            <a:r>
              <a:t>⚠️ Ativar web sempre é erro. Latência, custo, risco de web não confiável.</a:t>
            </a:r>
          </a:p>
          <a:p>
            <a:r>
              <a:t>➡️ Vamos ver o código do avaliador.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Função grade_documents itera sobre docs, classifica, acumula aprovados. Conditional edge decide.</a:t>
            </a:r>
          </a:p>
          <a:p>
            <a:r>
              <a:t>💡 Analogia: filtro de spam de email.</a:t>
            </a:r>
          </a:p>
          <a:p>
            <a:r>
              <a:t>⚠️ Threshold contínuo é menos simples que binário (yes/no). Para 3 classes, use correto/ambíguo/incorreto.</a:t>
            </a:r>
          </a:p>
          <a:p>
            <a:r>
              <a:t>➡️ Comparação com RAG ingênuo.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CRAG adiciona ~$0.005/query. Em 10k/dia = $50/dia. Geralmente vale.</a:t>
            </a:r>
          </a:p>
          <a:p>
            <a:r>
              <a:t>💡 Analogia: comprar sem marca (ingênuo) vs com certificação (CRAG).</a:t>
            </a:r>
          </a:p>
          <a:p>
            <a:r>
              <a:t>⚠️ CRAG em latência crítica (&lt;500ms) pode não caber.</a:t>
            </a:r>
          </a:p>
          <a:p>
            <a:r>
              <a:t>➡️ Quando CRAG brilha e quando falha?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CRAG avalia DOCS, não RESPOSTA. Se resposta alucina sobre docs bons, CRAG não percebe.</a:t>
            </a:r>
          </a:p>
          <a:p>
            <a:r>
              <a:t>💡 Analogia: inspetor de matéria-prima. Garante ingredientes, mas não prova o prato. Self-RAG prova.</a:t>
            </a:r>
          </a:p>
          <a:p>
            <a:r>
              <a:t>➡️ Vamos ao próximo nível: Self-RAG.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Terceira evolução: Self-RAG avalia TUDO — docs, resposta, processo. Auto-avaliação.</a:t>
            </a:r>
          </a:p>
          <a:p>
            <a:r>
              <a:t>➡️ A ideia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CRAG avalia docs (antes de gerar). Self-RAG avalia resposta (depois de gerar). Se não suportada, regenera.</a:t>
            </a:r>
          </a:p>
          <a:p>
            <a:r>
              <a:t>💡 Analogia: cozinheiro que prova os ingredientes vs cozinheiro que prova o prato final e refaz.</a:t>
            </a:r>
          </a:p>
          <a:p>
            <a:r>
              <a:t>❓ 'Em qual caso vocês precisariam de Self-RAG?' (jurídico, médico, financeiro)</a:t>
            </a:r>
          </a:p>
          <a:p>
            <a:r>
              <a:t>⚠️ Self-RAG não é 'CRAG com mais chamadas'. Adiciona REFLEXÃO sobre a resposta.</a:t>
            </a:r>
          </a:p>
          <a:p>
            <a:r>
              <a:t>➡️ Como o modelo reflete? Tokens de reflexão.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Self-RAG original é FINE-TUNED para emitir tokens especiais. Reflexão embutida, sem prompts extras.</a:t>
            </a:r>
          </a:p>
          <a:p>
            <a:r>
              <a:t>💡 Analogia: cirurgião que murmura checklist durante a operação.</a:t>
            </a:r>
          </a:p>
          <a:p>
            <a:r>
              <a:t>⚠️ Tokens não funcionam com GPT-4 (não foi treinado). Para não-treinados, prompting.</a:t>
            </a:r>
          </a:p>
          <a:p>
            <a:r>
              <a:t>➡️ Vamos ver o fluxo.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Decision points: [Retrieve?] (como Adaptive), [Relevant?] (como CRAG), [Fully supported?] (NOVO!).</a:t>
            </a:r>
          </a:p>
          <a:p>
            <a:r>
              <a:t>💡 Analogia: estudante com rubrica. A cada questão se pergunta: preciso consultar? página relevante? resposta fundamentada?</a:t>
            </a:r>
          </a:p>
          <a:p>
            <a:r>
              <a:t>❓ 'Qual token é mais importante?' ([Fully supported] — diferencia Self-RAG de CRAG)</a:t>
            </a:r>
          </a:p>
          <a:p>
            <a:r>
              <a:t>⚠️ Tokens são opcionais. Pode usar só [Retrieve] e [Fully supported].</a:t>
            </a:r>
          </a:p>
          <a:p>
            <a:r>
              <a:t>➡️ Como funciona o modelo treinado?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Original é Llama-Self-RAG fine-tuned. Elegante (uma passada) mas preso àquele modelo.</a:t>
            </a:r>
          </a:p>
          <a:p>
            <a:r>
              <a:t>💡 Analogia: músico de jazz (treinado) improvisa natural; músico clássico precisa de partitura (prompting).</a:t>
            </a:r>
          </a:p>
          <a:p>
            <a:r>
              <a:t>⚠️ Baixar 'Self-RAG model' existe mas é pequeno. Para produção, prompting em modelo forte é melhor.</a:t>
            </a:r>
          </a:p>
          <a:p>
            <a:r>
              <a:t>➡️ Como adaptar para qualquer modelo? Prompting.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Para GPT-4/Claude: prompt estruturado pede reflexão. JSON {supported: fully|partly|no}. Se 'no', regenera.</a:t>
            </a:r>
          </a:p>
          <a:p>
            <a:r>
              <a:t>💡 Analogia: traduzir receita de chef para iniciante. Mesmo resultado, método diferente.</a:t>
            </a:r>
          </a:p>
          <a:p>
            <a:r>
              <a:t>⚠️ Um prompt gigante para todas reflexões é ruim. Separe em chamadas (nós do grafo).</a:t>
            </a:r>
          </a:p>
          <a:p>
            <a:r>
              <a:t>➡️ Código.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Pydantic models para saídas estruturadas. Nós: grade_documents, generate, grade_hallucination, grade_answer. Loop com max_retries.</a:t>
            </a:r>
          </a:p>
          <a:p>
            <a:r>
              <a:t>💡 Analogia: redação com rubrica. Cada parágrafo passa por critérios.</a:t>
            </a:r>
          </a:p>
          <a:p>
            <a:r>
              <a:t>⚠️ Sem max_retries na regeneração = loop infinito. Sempre use guardrail.</a:t>
            </a:r>
          </a:p>
          <a:p>
            <a:r>
              <a:t>➡️ Vamos sistematizar as 3 arquiteturas.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nível adiciona reflexão. Adaptive (1 checkpoint), CRAG (2), Self-RAG (3).</a:t>
            </a:r>
          </a:p>
          <a:p>
            <a:r>
              <a:t>💡 Analogia: níveis de inspeção. Visual → instrumentos → auditoria.</a:t>
            </a:r>
          </a:p>
          <a:p>
            <a:r>
              <a:t>❓ 'Qual vocês usariam no projeto?' (justificarem)</a:t>
            </a:r>
          </a:p>
          <a:p>
            <a:r>
              <a:t>⚠️ Ir direto para Self-RAG 'para ser seguro' é overkill. Adaptive + CRAG resolvem 80%.</a:t>
            </a:r>
          </a:p>
          <a:p>
            <a:r>
              <a:t>➡️ Quando usar Self-RAG?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Self-RAG vale quando alucinação é inaceitável E pode pagar o custo.</a:t>
            </a:r>
          </a:p>
          <a:p>
            <a:r>
              <a:t>💡 Analogia: auditoria forense. Vale para fraudes milionárias; overkill para conta do café.</a:t>
            </a:r>
          </a:p>
          <a:p>
            <a:r>
              <a:t>➡️ Vamos praticar.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Adaptive: perguntas simples, latência crítica. Self-RAG: jurídico, alucinação inaceitável.</a:t>
            </a:r>
          </a:p>
          <a:p>
            <a:r>
              <a:t>❓ Em duplas, 3 min. Depois 2 duplas compartilham.</a:t>
            </a:r>
          </a:p>
          <a:p>
            <a:r>
              <a:t>⚠️ Escolher Self-RAG 'por segurança' em FAQ pode ser overkill. Avaliar risco regulatório.</a:t>
            </a:r>
          </a:p>
          <a:p>
            <a:r>
              <a:t>➡️ Vamos ao próximo bloco: Agentic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Topo da escalada. Não há pipeline predefinido. Agente decide tudo. Conexão com ETHAGT01: Augmented LLM com retrieval in-loop.</a:t>
            </a:r>
          </a:p>
          <a:p>
            <a:r>
              <a:t>➡️ A ideia central.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Adaptive/CRAG/Self-RAG são receitas (passos predefinidos). Agentic é chef criando prato novo.</a:t>
            </a:r>
          </a:p>
          <a:p>
            <a:r>
              <a:t>💡 Analogia: receita vs chef.</a:t>
            </a:r>
          </a:p>
          <a:p>
            <a:r>
              <a:t>❓ 'Qual o risco de Agentic?' (loop infinito, custo imprevisível — max_steps é essencial)</a:t>
            </a:r>
          </a:p>
          <a:p>
            <a:r>
              <a:t>⚠️ Pular para Agentic sem entender o básico é anti-pattern. Comece simples.</a:t>
            </a:r>
          </a:p>
          <a:p>
            <a:r>
              <a:t>➡️ O que o agente faz exatamente?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3 capacidades únicas: planeja, refina, decide parar. Emergem do loop ReAct (ETHAGT01).</a:t>
            </a:r>
          </a:p>
          <a:p>
            <a:r>
              <a:t>💡 Analogia: detetive investigando. Planeja interrogatórios, reformula perguntas, decide quando tem provas.</a:t>
            </a:r>
          </a:p>
          <a:p>
            <a:r>
              <a:t>⚠️ Sem critério de parada no prompt = agente não sabe quando parar. Ensine.</a:t>
            </a:r>
          </a:p>
          <a:p>
            <a:r>
              <a:t>➡️ A capacidade mais poderosa: multi-hop.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Multi-hop: resposta da 1ª busca é INPUT para a 2ª. Sem agente, muito difícil.</a:t>
            </a:r>
          </a:p>
          <a:p>
            <a:r>
              <a:t>💡 Analogia: investigação em camadas. Suspeito → passado → aliases. Cada hop depende do anterior.</a:t>
            </a:r>
          </a:p>
          <a:p>
            <a:r>
              <a:t>❓ 'Pensem em uma pergunta multi-hop do sistema de vocês.'</a:t>
            </a:r>
          </a:p>
          <a:p>
            <a:r>
              <a:t>⚠️ Multi-hop NÃO é buscas paralelas. É SEQUENCIAL e DEPENDENTE.</a:t>
            </a:r>
          </a:p>
          <a:p>
            <a:r>
              <a:t>➡️ Vamos ver um trace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Trace real: pergunta exige duas fontes (interna + web). Agente raciocina, busca, combina, responde.</a:t>
            </a:r>
          </a:p>
          <a:p>
            <a:r>
              <a:t>💡 Analogia: jornalista investigativo. Arquivo interno + internet + escreve matéria.</a:t>
            </a:r>
          </a:p>
          <a:p>
            <a:r>
              <a:t>⚠️ Agente não 'sabe' que precisa de duas fontes — raciocina a partir do prompt.</a:t>
            </a:r>
          </a:p>
          <a:p>
            <a:r>
              <a:t>➡️ As tools de busca são especiais?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Tools de busca são tools como qualquer outra. Lição de ACI aplica totalmente.</a:t>
            </a:r>
          </a:p>
          <a:p>
            <a:r>
              <a:t>💡 Analogia: caixa de ferramentas. Agente é mecânico que escolhe a ferramenta. Etiqueta ruim = erro.</a:t>
            </a:r>
          </a:p>
          <a:p>
            <a:r>
              <a:t>❓ 'Quantas tools de busca vocês têm? Documentadas como?'</a:t>
            </a:r>
          </a:p>
          <a:p>
            <a:r>
              <a:t>⚠️ Retornar texto bruto é ruim. Melhor: lista estruturada de docs com score.</a:t>
            </a:r>
          </a:p>
          <a:p>
            <a:r>
              <a:t>➡️ Fontes.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Diversidade de fontes é superpoder. Web (recente), interno (proprietário), KG (relacional).</a:t>
            </a:r>
          </a:p>
          <a:p>
            <a:r>
              <a:t>💡 Analogia: pesquisador com 3 bibliotecas. Sabe qual consultar para cada pergunta.</a:t>
            </a:r>
          </a:p>
          <a:p>
            <a:r>
              <a:t>⚠️ Usar só vector DB é limitante. Web e KG resolvem classes inteiras de perguntas.</a:t>
            </a:r>
          </a:p>
          <a:p>
            <a:r>
              <a:t>➡️ Uma fonte especial: Knowledge Graph via GraphRAG.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GraphRAG resolve perguntas GLOBAIS que vector RAG não consegue.</a:t>
            </a:r>
          </a:p>
          <a:p>
            <a:r>
              <a:t>💡 Analogia: vector RAG = olhar páginas; GraphRAG = olhar índice e sumário.</a:t>
            </a:r>
          </a:p>
          <a:p>
            <a:r>
              <a:t>❓ 'Qual pergunta global vocês fariam no corpus de vocês?'</a:t>
            </a:r>
          </a:p>
          <a:p>
            <a:r>
              <a:t>⚠️ GraphRAG para perguntas locais é overkill. Vector RAG é mais rápido.</a:t>
            </a:r>
          </a:p>
          <a:p>
            <a:r>
              <a:t>➡️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Demo ao vivo. Se API falhar, tenho screenshot do trace.</a:t>
            </a:r>
          </a:p>
          <a:p>
            <a:r>
              <a:t>💡 Analogia: assistir detetive trabalhar. Cada thought/action/observation visível.</a:t>
            </a:r>
          </a:p>
          <a:p>
            <a:r>
              <a:t>⚠️ Se API falhar, NÃO debugue ao vivo. Use screenshot e siga.</a:t>
            </a:r>
          </a:p>
          <a:p>
            <a:r>
              <a:t>➡️ Pergunta sobre a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(1) Depende do prompt — se instruído a combinar, tenta web. (2) Critério no prompt: 'pare quando tiver informação suficiente'. (3) max_steps baixo = resposta incompleta.</a:t>
            </a:r>
          </a:p>
          <a:p>
            <a:r>
              <a:t>❓ Em duplas, 2 min. Depois 2 duplas compartilham.</a:t>
            </a:r>
          </a:p>
          <a:p>
            <a:r>
              <a:t>➡️ Vamos sistematizar a escalada.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Cada degrau adiciona reflexão. Adaptive &lt; CRAG &lt; Self-RAG &lt; Agentic em custo/complexidade.</a:t>
            </a:r>
          </a:p>
          <a:p>
            <a:r>
              <a:t>💡 Analogia: aprender a dirigir. Cidade → rodovia → noite → corrida.</a:t>
            </a:r>
          </a:p>
          <a:p>
            <a:r>
              <a:t>❓ 'Em qual degrau está o RAG de vocês hoje?' (maioria em Adaptive ou nenhum)</a:t>
            </a:r>
          </a:p>
          <a:p>
            <a:r>
              <a:t>⚠️ Querer Agentic porque é 'mais avançado' é anti-pattern. Adaptive resolve 60-70%.</a:t>
            </a:r>
          </a:p>
          <a:p>
            <a:r>
              <a:t>➡️ Agora, engenharia de qualidade.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Arquiteturas são a estrutura. Engenharia de qualidade é o conteúdo. Chunking, re-rank, rewriting, hybrid.</a:t>
            </a:r>
          </a:p>
          <a:p>
            <a:r>
              <a:t>➡️ Começando pelo fundamento: chunking.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Chunking é a decisão mais impactante e mais subestimada. Átomo do RAG.</a:t>
            </a:r>
          </a:p>
          <a:p>
            <a:r>
              <a:t>💡 Analogia: cortar ingredientes. Corte ruim = prato ruim, não importa o tempero.</a:t>
            </a:r>
          </a:p>
          <a:p>
            <a:r>
              <a:t>❓ 'Qual estratégia de chunking vocês usam?' (maioria: fixo)</a:t>
            </a:r>
          </a:p>
          <a:p>
            <a:r>
              <a:t>⚠️ Otimizar embeddings antes de chunking é ordem errada. Chunking &gt; embeddings &gt; re-rank.</a:t>
            </a:r>
          </a:p>
          <a:p>
            <a:r>
              <a:t>➡️ Duas estratégias avançadas.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Semântico: embeddings de sentenças detectam mudanças de tópico. Hierárquico: parent-child (filho match preciso, pai contexto rico).</a:t>
            </a:r>
          </a:p>
          <a:p>
            <a:r>
              <a:t>💡 Analogia: semântico = agrupar conversas por assunto; hierárquico = livro com capítulos/seções/parágrafos.</a:t>
            </a:r>
          </a:p>
          <a:p>
            <a:r>
              <a:t>⚠️ Semântico em docs curtos não adiciona. Hierárquico em docs planos não ajuda.</a:t>
            </a:r>
          </a:p>
          <a:p>
            <a:r>
              <a:t>➡️ E a novidade de 2024?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Novidade mais impactante de 2024. Processa doc inteiro antes de chunkar. Embeddings muito mais ricos. -30-50% falhas.</a:t>
            </a:r>
          </a:p>
          <a:p>
            <a:r>
              <a:t>💡 Analogia: ler capítulo inteiro antes de destacar frase. Com contexto, destaque faz sentido.</a:t>
            </a:r>
          </a:p>
          <a:p>
            <a:r>
              <a:t>❓ 'Conheciam Contextual Retrieval?' (provavelmente minoria)</a:t>
            </a:r>
          </a:p>
          <a:p>
            <a:r>
              <a:t>⚠️ Late chunking ≠ 'chunking maior'. É processar doc antes.</a:t>
            </a:r>
          </a:p>
          <a:p>
            <a:r>
              <a:t>➡️ Re-ranking.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Retrieve MUITOS (top-50) com método barato, re-rankeie com cross-encoder PRECISO, fique com top-5.</a:t>
            </a:r>
          </a:p>
          <a:p>
            <a:r>
              <a:t>💡 Analogia: contratar. 100 currículos → triagem rápida → entrevista 5 melhores.</a:t>
            </a:r>
          </a:p>
          <a:p>
            <a:r>
              <a:t>⚠️ Re-rank de TODA a base é caro. Só dos top-50 já recuperados.</a:t>
            </a:r>
          </a:p>
          <a:p>
            <a:r>
              <a:t>➡️ Quais re-rankers?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Cohere (qualidade, pago), bge (local, grátis), Jina (multilingual). Escolha conforme caso.</a:t>
            </a:r>
          </a:p>
          <a:p>
            <a:r>
              <a:t>💡 Analogia: tradutor. Profissional (Cohere), estagiário fluente (bge), poliglota (Jina).</a:t>
            </a:r>
          </a:p>
          <a:p>
            <a:r>
              <a:t>❓ 'Qual vocês usariam no projeto?'</a:t>
            </a:r>
          </a:p>
          <a:p>
            <a:r>
              <a:t>➡️ Query transformation.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Query rewriting: reformular para casar melhor com docs. HyDE: gerar resposta hipotética e embedar ELA.</a:t>
            </a:r>
          </a:p>
          <a:p>
            <a:r>
              <a:t>💡 Analogia: rewriting = reformular busca no Google. HyDE = imaginar resposta ideal e buscar por algo parecido.</a:t>
            </a:r>
          </a:p>
          <a:p>
            <a:r>
              <a:t>❓ 'Query rewriting: sempre reescrever? Quando não?' (não para diretas; sim para ambíguas/sinônimos)</a:t>
            </a:r>
          </a:p>
          <a:p>
            <a:r>
              <a:t>⚠️ HyDE sempre adiciona latência. Vale para abstratas; rewriting basta para diretas.</a:t>
            </a:r>
          </a:p>
          <a:p>
            <a:r>
              <a:t>➡️ Hybrid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Hybrid é o PADRÃO de produção. BM25 + densa com RRF. Melhor recall.</a:t>
            </a:r>
          </a:p>
          <a:p>
            <a:r>
              <a:t>💡 Analogia: BM25 = buscar por número de telefone; densa = buscar por 'restaurante italiano perto do parque'. Precisa dos dois.</a:t>
            </a:r>
          </a:p>
          <a:p>
            <a:r>
              <a:t>❓ 'Usam hybrid search hoje?' (provavelmente minoria)</a:t>
            </a:r>
          </a:p>
          <a:p>
            <a:r>
              <a:t>⚠️ Usar SÓ densa porque 'é moderna' é erro. BM25 vence em termos técnicos.</a:t>
            </a:r>
          </a:p>
          <a:p>
            <a:r>
              <a:t>➡️ Multi-vector.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ColBERT: N vetores por doc (um por token). Max-similarity granular. Caro mas preciso.</a:t>
            </a:r>
          </a:p>
          <a:p>
            <a:r>
              <a:t>💡 Analogia: tradicional = resumir livro em frase; ColBERT = manter cada palavra indexada.</a:t>
            </a:r>
          </a:p>
          <a:p>
            <a:r>
              <a:t>⚠️ ColBERT para tudo é overkill. Reserve para corpora técnicos específicos.</a:t>
            </a:r>
          </a:p>
          <a:p>
            <a:r>
              <a:t>➡️ Multimodal.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RAG multimodal integra texto, imagem, tabela. CLIP para imagens, conversão para tabelas.</a:t>
            </a:r>
          </a:p>
          <a:p>
            <a:r>
              <a:t>💡 Analogia: enciclopédia ilustrada. Busca por texto, imagem, ou tabela.</a:t>
            </a:r>
          </a:p>
          <a:p>
            <a:r>
              <a:t>⚠️ Embedar imagens com embeddings de texto NÃO funciona. Precisa de CLIP/vision.</a:t>
            </a:r>
          </a:p>
          <a:p>
            <a:r>
              <a:t>➡️ Vamos praticar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(1) Hybrid + re-rank. (2) Query rewriting + semantic chunking. (3) Multimodal (CLIP) + ColBERT.</a:t>
            </a:r>
          </a:p>
          <a:p>
            <a:r>
              <a:t>❓ Em duplas, 2 min. Depois 2 duplas compartilham.</a:t>
            </a:r>
          </a:p>
          <a:p>
            <a:r>
              <a:t>➡️ Agora, 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Seção mais subestimada. Sem métricas, não sabe se melhorou. Sem holdout, sem regressão. Separa hobby de produção.</a:t>
            </a:r>
          </a:p>
          <a:p>
            <a:r>
              <a:t>➡️ Por que avaliar RAG é diferente?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3 componentes falham independentemente. Sem medir cada um, não sabe onde otimizar.</a:t>
            </a:r>
          </a:p>
          <a:p>
            <a:r>
              <a:t>💡 Analogia: carro que não anda. Motor? Combustível? Transmissão? Sem medir, troca peças às cegas.</a:t>
            </a:r>
          </a:p>
          <a:p>
            <a:r>
              <a:t>❓ 'Se faithfulness 0.95 mas relevance 0.40, qual o problema?' (generation fiel mas não responde — docs não cobrem)</a:t>
            </a:r>
          </a:p>
          <a:p>
            <a:r>
              <a:t>➡️ Métricas de geração.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Faithfulness decompõe em claims, verifica cada uma contra docs. Relevance gera perguntas da resposta, compara com original.</a:t>
            </a:r>
          </a:p>
          <a:p>
            <a:r>
              <a:t>💡 Analogia: faithfulness = jornalista não inventa fatos; relevance = responde ao tema da pauta.</a:t>
            </a:r>
          </a:p>
          <a:p>
            <a:r>
              <a:t>⚠️ Otimizar SÓ faithfulness = respostas fiéis mas inúteis. Precisamos das duas.</a:t>
            </a:r>
          </a:p>
          <a:p>
            <a:r>
              <a:t>➡️ Métricas de retrieval.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Precision: quanto do que achou é valioso. Recall: quanto do total você encontrou.</a:t>
            </a:r>
          </a:p>
          <a:p>
            <a:r>
              <a:t>💡 Analogia: precision = proporção de ouro no cascalho; recall = quanto do ouro total você achou. Re-rank = bateia.</a:t>
            </a:r>
          </a:p>
          <a:p>
            <a:r>
              <a:t>⚠️ Otimizar SÓ recall = LLM recebe muito ruído. Precisamos das duas.</a:t>
            </a:r>
          </a:p>
          <a:p>
            <a:r>
              <a:t>➡️ Frameworks.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Ragas (RAG puro), TruLens (tracing + dashboard), DeepEval (pytest + CI/CD). Todos LLM-as-judge.</a:t>
            </a:r>
          </a:p>
          <a:p>
            <a:r>
              <a:t>💡 Analogia: Ragas = controle de qualidade; TruLens = monitor de produção; DeepEval = testes no pipeline.</a:t>
            </a:r>
          </a:p>
          <a:p>
            <a:r>
              <a:t>❓ 'Qual stack vocês usam hoje?'</a:t>
            </a:r>
          </a:p>
          <a:p>
            <a:r>
              <a:t>➡️ Pipeline de 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Eval corre em paralelo ao pipeline RAG. Coleta 3 coisas, computa 4 métricas. Em produção: batch + CI/CD.</a:t>
            </a:r>
          </a:p>
          <a:p>
            <a:r>
              <a:t>💡 Analogia: linha de produção com estação de qualidade. Amostra, mede, bloqueia lote se falhar.</a:t>
            </a:r>
          </a:p>
          <a:p>
            <a:r>
              <a:t>❓ 'Quantas perguntas tem o holdout de vocês?' (provavelmente zero)</a:t>
            </a:r>
          </a:p>
          <a:p>
            <a:r>
              <a:t>⚠️ Eval manual é subjetivo. Automático é obrigatório em produção.</a:t>
            </a:r>
          </a:p>
          <a:p>
            <a:r>
              <a:t>➡️ LLM-as-judge.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LLM-as-judge tem vieses. Mitigue: randomize ordem, use modelo diferente, normalize tamanho. Holdout para regressão.</a:t>
            </a:r>
          </a:p>
          <a:p>
            <a:r>
              <a:t>💡 Analogia: jurado de concurso com preferências. Mitigue com randomização e jurados diversos.</a:t>
            </a:r>
          </a:p>
          <a:p>
            <a:r>
              <a:t>❓ 'Se faithfulness cair 5%, o que fazem?' (investigar, reverter, NÃO deployar)</a:t>
            </a:r>
          </a:p>
          <a:p>
            <a:r>
              <a:t>⚠️ Mesmo modelo para gerar e julgar = self-preference. Use modelos diferentes.</a:t>
            </a:r>
          </a:p>
          <a:p>
            <a:r>
              <a:t>➡️ Fechamento.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Fechamento. Consolidar: boas práticas, anti-patterns, resumo, quiz, conexão, projeto, Q&amp;A.</a:t>
            </a:r>
          </a:p>
          <a:p>
            <a:r>
              <a:t>➡️ O que fazer.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boas práticas. Fazer 3 já coloca à frente de 80% dos RAGs em produção.</a:t>
            </a:r>
          </a:p>
          <a:p>
            <a:r>
              <a:t>💡 Analogia: fundamentos de esporte. Sem fundamento, jogada fancy falha.</a:t>
            </a:r>
          </a:p>
          <a:p>
            <a:r>
              <a:t>❓ 'Quantas dessas 8 vocês já fazem?' (levantar mãos por número)</a:t>
            </a:r>
          </a:p>
          <a:p>
            <a:r>
              <a:t>➡️ E o que NÃO fazer?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anti-patterns. Cada um é erro caro em produção.</a:t>
            </a:r>
          </a:p>
          <a:p>
            <a:r>
              <a:t>💡 Analogia: erros clássicos de culinária. Cada um arruína o prato.</a:t>
            </a:r>
          </a:p>
          <a:p>
            <a:r>
              <a:t>❓ 'Qual desses vocês já cometeram?' (confessar gera risos e aprendizado)</a:t>
            </a:r>
          </a:p>
          <a:p>
            <a:r>
              <a:t>➡️ Resumo.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8 pontos-chave. Se saírem com esses, a aula cumpriu o objetivo.</a:t>
            </a:r>
          </a:p>
          <a:p>
            <a:r>
              <a:t>💡 Analogia: decálogo do RAG. 8 mandamentos para RAG de produção.</a:t>
            </a:r>
          </a:p>
          <a:p>
            <a:r>
              <a:t>➡️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Vamos fazer juntos. Para cada item, levantem a mão se dominam. Se não estiver claro, falem agora.</a:t>
            </a:r>
          </a:p>
          <a:p>
            <a:r>
              <a:t>❓ 'Algum item que NÃO está claro?' (pausar — refazer se houver)</a:t>
            </a:r>
          </a:p>
          <a:p>
            <a:r>
              <a:t>➡️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Quiz individual, sem consulta. Resposta: B. Adaptive decide quando; Self-RAG também avalia resposta.</a:t>
            </a:r>
          </a:p>
          <a:p>
            <a:r>
              <a:t>❓ Votar A/B/C/D. Anotar distribuição.</a:t>
            </a:r>
          </a:p>
          <a:p>
            <a:r>
              <a:t>➡️ Pergunta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B. Quando avaliador classifica como irrelevantes. Web é fallback, não padrão.</a:t>
            </a:r>
          </a:p>
          <a:p>
            <a:r>
              <a:t>❓ Votação.</a:t>
            </a:r>
          </a:p>
          <a:p>
            <a:r>
              <a:t>➡️ Pergunta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Resposta: C. Faithfulness decompõe em claims, verifica cada uma contra docs.</a:t>
            </a:r>
          </a:p>
          <a:p>
            <a:r>
              <a:t>❓ Votação. Anotar acertos — ≥2 = compreensão básica.</a:t>
            </a:r>
          </a:p>
          <a:p>
            <a:r>
              <a:t>➡️ Conexão com próximos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ETHAGT06 é pivô. ETHAGT07 aprofunda KG/Vector DBs. ETHAGT90 aplica Agentic RAG.</a:t>
            </a:r>
          </a:p>
          <a:p>
            <a:r>
              <a:t>➡️ Referências.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4 canônicas são leitura obrigatória. Anthropic Contextual Retrieval é o último grito. LangGraph = implementação de referência.</a:t>
            </a:r>
          </a:p>
          <a:p>
            <a:r>
              <a:t>➡️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Projeto = consolidação. ~20h de trabalho. Lab 1 diagnostica; Lab 2 implementa Agentic.</a:t>
            </a:r>
          </a:p>
          <a:p>
            <a:r>
              <a:t>💡 Analogia: prova de piloto. Não só dirige — planeja rota, escolhe carro, relata.</a:t>
            </a:r>
          </a:p>
          <a:p>
            <a:r>
              <a:t>❓ 'Alguma dúvida sobre o projeto?' (esclarecer prazos)</a:t>
            </a:r>
          </a:p>
          <a:p>
            <a:r>
              <a:t>➡️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📖 Chegamos ao fim. Perguntas? Se não houver, façam a pergunta inversa: 'qual parte foi menos clara?'</a:t>
            </a:r>
          </a:p>
          <a:p>
            <a:r>
              <a:t>❓ 'Perguntas? Ou qual parte foi menos clara?'</a:t>
            </a:r>
          </a:p>
          <a:p>
            <a:r>
              <a:t>⚠️ Sempre reserve 2-3 min para Q&amp;A.</a:t>
            </a:r>
          </a:p>
          <a:p>
            <a:r>
              <a:t>➡️ Fim da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RAG Agêntico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Universidade Etho · Especialização em Programação Agêntica</a:t>
            </a:r>
            <a:br/>
            <a:r>
              <a:t>Fase B — RAG Avançado · 30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Objetivos do Módulo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 geral: evoluir do RAG 'ingênuo' para RAG agêntico, onde o agente decide quando/o quê/como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Objetivos específicos: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Diagnosticar limites do RAG ingênuo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Implementar Adaptive RAG, CRAG, Self-RAG e Agentic 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Aplicar técnicas de qualidade: chunking, re-ranking, query rewriting, hybrid search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Construir pipeline de avaliação de RAG (faithfulness, relevance, context recall/precision)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Produzir um sistema RAG multi-tenant com segurança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 / 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Competências Desenvolvidas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Programação Agêntica → A (Avançado)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C3 MCP &amp; Tool Use → B (Básico)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Agent Memory → I (Intermediário)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AgentOps &amp; Avaliação → I (Intermediário)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C1 atinge Avançado: projetar e justificar arquiteturas RAG completas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C5 atinge Intermediário: pipeline de avaliação automatizado (Ragas)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C4 atinge Intermediário: estado entre hops (memória de trabalho)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 / 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Agenda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1 (~58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Abertura (8 min) — objetivos, motivação,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RAG Ingênuo Falha (10 min) — 4 tipos de falha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Adaptive RAG (12 min) — quando recuperar, routing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Corrective RAG (15 min) — avaliador, 3 caminhos, web fallback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Self-RAG (13 min) — tokens de reflexão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Bloco 2 (~52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Agentic RAG (15 min) — multi-hop, GraphRAG, DEMO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Engenharia de Qualidade (15 min) — chunking, re-rank, HyDE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Avaliação de RAG (10 min) — métricas, Ragas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Fechamento (12 min) — boas práticas, quiz, projeto, Q&amp;A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 / 85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Pré-requisitos: ETHAGT04 e o Que Você Já Sabe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ETHAGT04 cobriu: RAG básico, vector DBs, embeddings, pipeline retrieve→generate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Você já deveria saber: cosine similarity, top-k retrieval, LangChain básico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que esta aula adiciona: o agente entra no loop de recuperação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Você NÃO precisa ter feito ETHAGT04 se já pratica RAG em produção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 / 85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RAG 'Funciona' Até Parar de Funcionar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Na DEMA (verde)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Usuário feliz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Resposta parece correta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Confiança alta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Em PRODUÇÃO (vermelho)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Recupera chunks errados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Responde com info genérica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Confiança alta, grounding baixo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Usuário age sobre info falsa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 / 85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Do RAG Fixo ao RAG In-Loop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Linha do tempo: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2020: RAG original (Lewis et al., arXiv:2005.11401)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2023: Self-RAG (Asai et al., arXiv:2310.11511)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CRAG (Yan et al., arXiv:2401.15884)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2024: GraphRAG (Edge et al., arXiv:2404.16130)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2025: Agentic 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fixo: query → retrieve → generate (rígido)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agêntico: agente decide se/quando/o quê/como, com correção iterativa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 arquiteturas: Adaptive → CRAG → Self-RAG → Agentic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 / 85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Por que o RAG Ingênuo Falha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Pipeline do RAG Ingênuo e Seus Pontos de Falha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query → embed → vector search (top-k) → stuff into prompt → generate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Pontos de falha: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Embed: sinônimos não capturados, multilingual distante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Search: top-k traz irrelevante junto com relevante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Stuff: contexto quebrado, janela estourada, lost in the middle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Generate: alucinação sobre docs ruins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arXiv:2005.11401 (RAG original, Lewis et al.)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9 / 85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Falha 1: Chunking Quebra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por tamanho fixo (512 tokens) corta no meio de uma ideia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política de férias dividida entre dois chunks — nenhum faz sentido sozinho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Sobreposição (overlap) ajuda mas não resolve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Consequência: embedding captura fragmento sem contexto → recuperação irrelevante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(preview Seção G): chunking semântico, hierárquico, late-chunking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10 / 85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Falha 2: Embedding Não Captura Semântica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Embedding captura similaridade lexical, não raciocínio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'férias de estagiário' vs 'licença de aprendiz' — equivalentes, lexicalmente diferentes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Multilingual: mesma ideia em PT vs EN → embeddings distantes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Dados tabulares: embeddings de texto não capturam estrutura de tabela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(preview Seção G): query rewriting, HyDE, hybrid 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11 / 85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Falha 3: Sem Re-Rank, Top-k Traz Lixo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Top-k retorna os k mais similares — nem todos são 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re-rank: o chunk #1 pode ser irrelevante e 'afogar' os bons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 recebe contexto poluído → alucinação ou confusão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top-5 traz 1 chunk bom e 4 irrelevantes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(preview Seção G): re-ranking com Cohere, bge, Jina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12 / 85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Falha 4: Sem Avaliação, Você Está Cego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'Funciona na minha máquina' ≠ funciona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métricas: melhoria é adivinhação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Métricas que importam: faithfulness, answer relevance, context precision/recall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dataset de holdout: não há como detectar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Solução (preview Seção H): Ragas, TruLens, DeepEval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13 / 85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O Mito 'Vector DB Resolve Tudo'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O MITO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'Só joga no vector DB e funciona'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Vector DB é apresentado como solução universal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 REALIDADE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Vector DB é uma PEÇA, não a solução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Dados tabulares: embeddings não capturam estrutura → SQL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Multilingual: PT vs EN → distância vetorial alta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Multi-modal: texto + imagem + tabela → estratégias diferentes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14 / 85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Adaptive RAG: Decidir Quando Recuperar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Decidir Quando Recuperar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RAG Ingênuo (sempre recupera)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Recupera MESMO para 'Quem é o presidente?'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Latência e custo desperdiçados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Risco: docs irrelevantes confundem o modelo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Adaptive RAG (decide)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Classificador decide se precisa recuperar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Não precisa → responder direto (LLM puro)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Pergunta simples → recuperar top-3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Pergunta complexa → recuperar + query rewrite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16 / 85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Decidir Quanto Recuperar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Top-k fixo (sempre 5) é subótimo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 factual: 1-2 chunks bastam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 analítica: 5-10 chunks podem ser necessários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Estratégia: classificar complexidade → ajustar k dinamicamente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Trade-off: mais chunks = mais contexto = mais custo + mais ruído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17 / 85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Estratégias de Routing por Complexidade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Routing por regras: keywords, comprimento da pergunta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Routing por LLM: classificador zero-shot ('precisa de retrieval?')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Routing por complexidade: simples / média / complexa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Routing por fonte: base local vs web vs KG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LangGraph: RouteQuery node com conditional edges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18 / 85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Adaptive RAG — Diagrama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pergunta → classificador → (direto | simples | complexa) → gerar →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Classificador decide: responder direto, retrieve top-3, ou retrieve + query rewrite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12-Diagrams/ETHAGT06/adaptive-rag.mmd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LangGraph examples — adaptive_rag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19 / 85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Exemplo Prático: Quando Responder Direto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'Quem é o presidente do Brasil?' → responder direto (paramétrico)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'Qual a política de férias para estagiários?' → recuperar (específico)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'Compare as políticas de 2023 e 2024' → recuperar + query rewrite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classificador pode errar — por isso CRAG existe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20 / 85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Implementação: Adaptive RAG em LangGraph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langgraph.graph import StateGraph</a:t>
            </a:r>
            <a:br/>
            <a:r>
              <a:t>from pydantic import BaseModel</a:t>
            </a:r>
            <a:br/>
            <a:br/>
            <a:r>
              <a:t>class RouteQuery(BaseModel):</a:t>
            </a:r>
            <a:br/>
            <a:r>
              <a:t>    route: str  # 'direct' | 'simple' | 'complex'</a:t>
            </a:r>
            <a:br/>
            <a:br/>
            <a:r>
              <a:t>graph = StateGraph(State)</a:t>
            </a:r>
            <a:br/>
            <a:r>
              <a:t>graph.add_node('route_query', route_query_node)</a:t>
            </a:r>
            <a:br/>
            <a:r>
              <a:t>graph.add_node('retrieve', retrieve_node)</a:t>
            </a:r>
            <a:br/>
            <a:r>
              <a:t>graph.add_node('generate', generate_node)</a:t>
            </a:r>
            <a:br/>
            <a:br/>
            <a:r>
              <a:t>graph.add_conditional_edges('route_query', lambda s: s['route'],</a:t>
            </a:r>
            <a:br/>
            <a:r>
              <a:t>    {'direct': 'generate', 'simple': 'retrieve', 'complex': 'retrieve'})</a:t>
            </a:r>
            <a:br/>
            <a:r>
              <a:t>graph.add_edge('retrieve', 'generate')</a:t>
            </a:r>
            <a:br/>
            <a:r>
              <a:t>graph.set_entry_point('route_query')</a:t>
            </a:r>
            <a:br/>
            <a:r>
              <a:t>compiled = graph.compile()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21 / 85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Limitações do Adaptive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Classificador pode errar (falso negativo: não recupera quando deveria)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avalia a qualidade dos docs recuperados — confia cegamente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tem fallback se a base local não tem a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corrige: se recuperou lixo, gera com lixo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→ Motivação para CRAG (próxima seção)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22 / 85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Exercício: Direto ou Recuperar?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Para cada pergunta, vote: Direto (D) ou Recuperar (R):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'O que é Python?'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'Qual a política de home office da Etho?'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'Quem escreveu Dom Casmurro?'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'Compare as APIs de dois produtos internos'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'Qual a temperatura de ebulição da água?'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Votação rápida (mãos levantadas)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23 / 85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Corrective RAG (CRAG): Avaliar Antes de Confiar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Avaliar Antes de Confiar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Adaptive RAG (confia)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Decide SE recuperar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Depois confia cegamente nos docs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 recuperou lixo, gera com lixo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CRAG (avalia)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Recupera, AVALIA relevância dos docs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3 caminhos: usar / refinar / web fallback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Fonte: Yan et al., arXiv:2401.15884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25 / 85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O Retrieval Evaluator (Grau de Relevância)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Avaliador: LLM ou modelo leve classifica cada doc recuperado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Três classes de relevância: correto / ambíguo / incorreto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Score agregado decide o caminho: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Maioria correta → usar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Mistura → refinar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Maioria incorreta → web search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Implementação: prompt estruturado ou modelo fine-tuned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26 / 85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Três Caminhos: Usar / Corrigir / Web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Caminho 1 (relevante): usar docs diretamente → gerar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Caminho 2 (ambíguo): knowledge refinement — extrair apenas partes 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Caminho 3 (irrelevante): web search como fallback → gerar com web results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Trigger de fallback: quando a base local não tem a resposta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27 / 85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CRAG Flow — Diagrama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query → retrieve (KB local) → avaliador → (sim/ambíguo/não) → gerar →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avaliador é o coração do CRAG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Web search só é acionado quando docs locais são irrelevantes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12-Diagrams/ETHAGT06/crag-flow.mmd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arXiv:2401.15884; LangGraph example crag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28 / 85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Caminho 1: Usar (Docs Relevantes)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Avaliador classifica como 'correto' → docs vão direto para geração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Equivale ao RAG ingênuo, mas com confirmação de qualidade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Caminho mais comum quando a base é boa e a pergunta é clara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Latência: mínima (só overhead do avaliador)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29 / 85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Caminho 2: Corrigir (Knowledge Refinement)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Avaliador classifica como 'ambíguo' → docs têm partes relevantes e irrelevantes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Knowledge refinement: extrair apenas as partes relevantes de cada doc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Técnicas: decompor em sentenças, re-avaliar, filtrar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contexto limpo para o gerador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Trade-off: mais um step de LLM = mais latência e custo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30 / 85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Caminho 3: Web Search (Fallback)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Avaliador classifica como 'incorreto' → base local não tem a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Web search: Tavily, SerpAPI, ou busca nativa do modelo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Combinar web results com qualquer fragmento útil dos docs locais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ativa: base desatualizada, pergunta sobre evento recente, gap de cobertura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Quando CRAG decide buscar na web? Quando o avaliador diz 'incorreto'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31 / 85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Implementação: O Avaliador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pydantic import BaseModel</a:t>
            </a:r>
            <a:br/>
            <a:br/>
            <a:r>
              <a:t>class GradeDocuments(BaseModel):</a:t>
            </a:r>
            <a:br/>
            <a:r>
              <a:t>    binary_score: str  # 'yes' | 'no'</a:t>
            </a:r>
            <a:br/>
            <a:br/>
            <a:r>
              <a:t>def grade_documents(state):</a:t>
            </a:r>
            <a:br/>
            <a:r>
              <a:t>    filtered = []</a:t>
            </a:r>
            <a:br/>
            <a:r>
              <a:t>    for doc in state['documents']:</a:t>
            </a:r>
            <a:br/>
            <a:r>
              <a:t>        score = grader.invoke({'question': state['question'], 'doc': doc})</a:t>
            </a:r>
            <a:br/>
            <a:r>
              <a:t>        if score.binary_score == 'yes':</a:t>
            </a:r>
            <a:br/>
            <a:r>
              <a:t>            filtered.append(doc)</a:t>
            </a:r>
            <a:br/>
            <a:r>
              <a:t>    return {'documents': filtered}</a:t>
            </a:r>
            <a:br/>
            <a:br/>
            <a:r>
              <a:t>graph.add_conditional_edges('grade_documents',</a:t>
            </a:r>
            <a:br/>
            <a:r>
              <a:t>    lambda s: 'generate' if s['documents'] else 'web_search')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32 / 85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RAG Ingênuo vs CRAG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RAG Ingênuo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Conflia cegamente nos docs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fallback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Sem avaliação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Barato, rápido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CRAG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Avalia relevância dos docs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Refina se parcial, web se irrelevante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Custo: +1-2 chamadas de LLM (~$0.005/query)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Grounding muito maior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33 / 85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CRAG — Quando Brilha e Quando Falha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Brilha: base com cobertura parcial, perguntas diversas, dados que envelhecem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Falha: avaliador erra (falso positivo de relevância), web search retorna lixo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Melhoria: combinar CRAG com re-ranking (Seção 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Limitação: não reflete sobre a PRÓPRIA resposta — isso é Self-RAG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34 / 85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Self-RAG: Modelo que Reflete sobre Recuperação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Modelo que Reflete sobre Recuperação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CRAG (avalia docs)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Avalia relevância dos docs ANTES de gerar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Não avalia a resposta gerada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Pipeline com gate de decisão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Self-RAG (avalia tudo)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Reflete sobre TODO o processo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Julga se a resposta é suportada pelos docs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Modelo treinado para emitir tokens de reflexão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Fonte: Asai et al., arXiv:2310.11511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36 / 85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Tokens de Reflexão do Self-RAG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[Retrieve] — decidir se precisa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[Retrieve(target)] — decidir qual fonte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[Relevant] / [Irrelevant] — julgar relevância do doc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[Fully supported] / [Partly supported] / [No support] — julgar se resposta é suportada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[Utility] — julgar utilidade da resposta final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token controla uma decisão no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37 / 85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Self-RAG — Fluxo com Tokens de Reflexão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Fluxo: pergunta → [Retrieve?] → recuperar → [Relevant?] → [Fully supported?] →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 [No support]: regenerar ou recuperar mais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modelo decide em cada etapa via tokens de reflexão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arXiv:2310.11511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38 / 85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Self-RAG Original — Modelo Treinado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Self-RAG original: LLM fine-tuned para emitir tokens de reflexão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Treinamento: dados com anotações de reflexão (relevância, suporte, utilidade)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reflexão embutida no modelo, sem prompts extras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Desvantagem: requer modelo específico — não funciona com GPT-4, Claude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isso: adaptação para modelos não-treinados via prompting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39 / 85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Self-RAG via Prompting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Replicar os tokens de reflexão via prompting estruturado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Prompt pede ao LLM para: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Decidir se precisa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Avaliar relevância de cada doc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Avaliar se a resposta é suportada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4. Regenerar se não suportada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Custo: múltiplas chamadas de LLM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Benefício: funciona com qualquer modelo (GPT-4, Claude, Llama)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40 / 85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Implementação: Self-RAG via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A9DCFC"/>
                </a:solidFill>
                <a:latin typeface="Consolas"/>
              </a:defRPr>
            </a:pPr>
            <a:r>
              <a:t>from pydantic import BaseModel</a:t>
            </a:r>
            <a:br/>
            <a:br/>
            <a:r>
              <a:t>class GradeDocuments(BaseModel):</a:t>
            </a:r>
            <a:br/>
            <a:r>
              <a:t>    binary_score: str  # 'yes' | 'no'</a:t>
            </a:r>
            <a:br/>
            <a:br/>
            <a:r>
              <a:t>class GradeHallucinations(BaseModel):</a:t>
            </a:r>
            <a:br/>
            <a:r>
              <a:t>    binary_score: str  # 'yes' (supported) | 'no'</a:t>
            </a:r>
            <a:br/>
            <a:br/>
            <a:r>
              <a:t>class GradeAnswer(BaseModel):</a:t>
            </a:r>
            <a:br/>
            <a:r>
              <a:t>    binary_score: str  # 'yes' (useful) | 'no'</a:t>
            </a:r>
            <a:br/>
            <a:br/>
            <a:r>
              <a:t>graph.add_node('grade_documents', grade_docs_node)</a:t>
            </a:r>
            <a:br/>
            <a:r>
              <a:t>graph.add_node('generate', generate_node)</a:t>
            </a:r>
            <a:br/>
            <a:r>
              <a:t>graph.add_node('grade_hallucination', grade_halluc_node)</a:t>
            </a:r>
            <a:br/>
            <a:r>
              <a:t>graph.add_edge('generate', 'grade_hallucination')</a:t>
            </a:r>
            <a:br/>
            <a:r>
              <a:t>graph.add_conditional_edges('grade_hallucination',</a:t>
            </a:r>
            <a:br/>
            <a:r>
              <a:t>    lambda s: 'useful' if supported else 'regenerate')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41 / 85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Adaptive vs CRAG vs Self-RAG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Checkpoints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Tabela comparativa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Adaptive: decide SE recuperar ✅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  Avalia docs ❌ | Avalia resposta ❌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CRAG: decide SE recuperar ❌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  Avalia docs ✅ | Avalia resposta ❌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Self-RAG: decide SE recuperar ✅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  Avalia docs ✅ | Avalia resposta ✅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Complexidade/custo: Adaptive &lt; CRAG &lt; Self-RAG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42 / 85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Quando Usar Self-RAG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Use Self-RAG quando: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Alucinação é inaceitável (jurídico, médico, financeiro)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Você pode pagar o custo de múltiplas chamadas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Precisa de garantia de que a resposta é suportada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Não use quando: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Latência é crítica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Base é pequena e confiável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Caso de uso tolera imprecisão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43 / 85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Adaptive vs Self-RAG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Cenário: sistema de FAQ jurídico com 10.000 documentos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 duplas (5 min):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Quando usar Adaptive RAG vs Self-RAG?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Justifique com 3 critérios: tipo de pergunta, custo, qualidade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Escreva o prompt de reflexão para um doc recuperado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min discussão + 2 min compartilhar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44 / 85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Agentic RAG: O Agente Dirige Todo o Processo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B3A5E"/>
                </a:solidFill>
                <a:latin typeface="Segoe UI"/>
              </a:defRPr>
            </a:pPr>
            <a:r>
              <a:t>O Agente Dirige Todo o Processo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C0392B"/>
                </a:solidFill>
                <a:latin typeface="Segoe UI"/>
              </a:defRPr>
            </a:pPr>
            <a:r>
              <a:t>Adaptive/CRAG/Self-RAG (fixo)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Pipeline com gates de decisão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Estrutura predefinida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Determinístico na estrutura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D8659"/>
                </a:solidFill>
                <a:latin typeface="Segoe UI"/>
              </a:defRPr>
            </a:pPr>
            <a:r>
              <a:t>Agentic RAG (loop)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O AGENTE decide tudo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Planeja busca, refina queries, decide parar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Tools de busca como ferramentas do agente</a:t>
            </a:r>
          </a:p>
          <a:p>
            <a:pPr>
              <a:spcAft>
                <a:spcPts val="800"/>
              </a:spcAft>
              <a:defRPr sz="1500">
                <a:solidFill>
                  <a:srgbClr val="0F1E2D"/>
                </a:solidFill>
                <a:latin typeface="Segoe UI"/>
              </a:defRPr>
            </a:pPr>
            <a:r>
              <a:t>Loop do agente É o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46 / 85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Capacidades do Agente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Planeja: 'Preciso buscar X, depois Y, depois combinar'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Refina queries: 'A busca por X retornou pouco — vou reformular'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Decide parar: 'Tenho informação suficiente' ou 'Preciso de mais um hop'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max_steps como guardrail (lição de ETHAGT01)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agente raciocina sobre o QUE recuperou e o QUE ainda falta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47 / 85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Multi-Hop: Cadeias de Recuperação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Single-hop: uma busca →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Multi-hop: múltiplas buscas encadeadas, cada uma dependendo da anterior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'Quem fundou a empresa que criou o ChatGPT?'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Hop 1: buscar 'quem criou o ChatGPT?' → OpenAI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Hop 2: buscar 'quem fundou a OpenAI?' → Sam Altman, Elon Musk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Resposta: sintetizar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agente: difícil de orquestrar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48 / 85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Multi-Hop — Trace Detalhado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Pergunta: 'Qual a diferença entre a política de férias da Etho e a CLT?'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Thought: 'Preciso de duas fontes'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Action: search_etho_docs('política de férias')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Observation: '30 dias após 1 ano...'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Action: search_web('CLT férias Brasil')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Observation: '30 dias corridos após 12 meses...'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Thought: 'Agora posso comparar'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Answer: 'A Etho segue a CLT, com diferença em...'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49 / 85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Tools de Busca como Ferramentas do Agente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tem tools: search_internal(query), search_web(query), search_kg(query)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ACI importa: tool bem documentada &gt; prompt melhor (ETHAGT01/ETHAGT02)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escolhe qual tool usar baseado na pergunta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Exemplo: 'política interna?' → search_internal; 'notícia de hoje?' → search_web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Tool return format: lista de docs com score, não texto bruto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50 / 85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Múltiplas Fontes: Web, Interno, 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Web search: Tavily, SerpAPI, Brave — dados externos e recentes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Interno: vector DB (Qdrant, Milvus), SQL DB — dados proprietários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Knowledge Graph: Neo4j, GraphRAG — dados relacionais estruturados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combina fontes: web para contexto + interno para detalhe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decide quando uma fonte é insuficiente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51 / 85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GraphRAG: Do Local ao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tradicional: recupera chunks locais (vizinhança vetorial)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GraphRAG: constrói grafo de conhecimento e recupera subgrafos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responde perguntas globais ('quais os temas deste corpus?')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extrair entidades/relações → comunidades → sumarizar →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Fonte: Edge et al., Microsoft, arXiv:2404.16130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No Agentic RAG: GraphRAG como uma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52 / 85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DEMO — Agentic RAG Multi-Hop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Código: 05-Labs/ETHAGT06/Lab2-Agentic-RAG-Multi-Hop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Agente com tools: search_internal, search_web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Pergunta multi-hop: 'Compare a política de férias da Etho com a CLT'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Trace: planejamento → busca interna → busca web → síntese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max_steps guardrail em 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53 / 85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Pergunta da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'O que acontece se o agente não encontrar nada na busca interna?'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'Como o agente decide que tem informação suficiente para parar?'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 se o max_steps for muito baixo?'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Discussão em duplas (2 min)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54 / 85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 Escalada — Adaptive → CRAG → Self-RAG → Agentic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Adaptive: decide SE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CRAG: avalia docs recuperados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Self-RAG: avalia docs +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Agentic: agente dirige todo o processo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Trade-off: mais controle = mais custo e complexidade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Regra: comece com Adaptive, só suba com evidência de insuficiência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55 / 85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Engenharia de Qualidade: O RAG é Tão Bom Quanto Seus Chunks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Chunking: O Fundamento Esquecido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'Garbage in, garbage out' — chunking ruim contamina todo o pipeline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fixo (512 tokens): simples, mas quebra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por sentença/parágrafo: preserva semântica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semântico: agrupa por tópicos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O chunk é o átomo do RAG — tudo depende dele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57 / 85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Chunking Semântico e Hierárquico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semântico: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Detectar mudanças de tópico (embeddings de sentença → clustering)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Agrupar sentenças relacionadas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hierárquico: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Múltiplos níveis: seção → parágrafo → sentença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Parent-child: recuperar filho, retornar pai para contexto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Semântico para docs densos; hierárquico para estruturados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58 / 85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Late Chunking (Contextual Retrieval)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Problema: chunk isolado perde contexto do documento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Late chunking (Anthropic Contextual Retrieval, 2024):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Processar documento inteiro ANTES de chunkar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Cada chunk recebe contexto do documento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Embeddings capturam contexto, não só fragmento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Implementação: doc completo → chunkar → embedar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Reduz falhas de recuperação em 30-50% (Anthropic)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59 / 85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Re-Ranking: Por Que e Como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Recuperação (BM25/densa): rápida, barata, mas imprecisa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Re-ranking: lento, caro, mas preciso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retrieve top-50 → re-rank → top-5 para o LLM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Re-ranker avalia relevância query-doc, não só similaridade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Reduz ruído no contexto do LLM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60 / 85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Re-Rankers: Cohere, bge, Jina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Cohere Rerank: API comercial, alta qualidade, paga por requisição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bge-reranker (BAAI): open-source, roda local, bom custo-benefício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Jina Reranker: API e self-hosted, foco em multilingual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Critério: latência, custo, qualidade, privacidade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Trade-off: cross-encoder é mais preciso mas mais lento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61 / 85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Query Rewriting e HyDE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Query rewriting: LLM reescreve a pergunta para melhorar recuperação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'férias estagiário' → 'política de licença para aprendizes e estagiários'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HyDE (Hypothetical Document Embeddings):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Gerar resposta HIPOTÉTICA à pergunta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Embedar a resposta hipotética (não a pergunta)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Buscar por similaridade com a resposta hipotética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Por que funciona: resposta hipotética é mais próxima dos docs que a pergunta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62 / 85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Hybrid Search: BM25 + Densa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BM25 (lexical): captura keywords exatas, termos técnicos, nomes próprios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Densa (embedding): captura semântica, sinônimos, paráfrase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Hybrid: combinar scores com reciprocal rank fusion (RRF)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Resultado: melhor recall que qualquer método isolado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Implementação: Qdrant e Milvus suportam hybrid nativamente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63 / 85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Multi-Vector: ColBERT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Embedding tradicional: 1 vetor por documento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ColBERT: 1 vetor POR TOKEN do documento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Recuperação: max-similarity entre tokens da query e tokens do doc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Vantagem: granularidade muito maior, captura match a nível de token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Desvantagem: armazenamento e computação muito maiores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Quando usar: corpora técnicos com terminologia específica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64 / 85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Multimodal RAG: Texto, Imagem, Tabela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Texto: embedding de texto (padrão)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Imagem: CLIP, vision embeddings — buscar por descrição ou imagem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Tabela: converter para texto estruturado ou embedar como tabular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Multimodal: combinar texto + imagem + tabela no mesmo espaço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Modelos: GPT-4V, Claude Vision, LLaVA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Desafio: chunking de imagem (regiões), alinhamento modal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65 / 85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Exercício — Escolhendo a Estratégia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 cenários — em duplas, escolher estratégia: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Documentação técnica em inglês (10k páginas)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FAQ jurídico em português (5k docs)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Catálogo de produtos com imagens (50k items)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Justificar com 2 critérios cada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 min discussão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Exercício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66 / 85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Avaliação de RAG: Sem Métricas, Você Está Cego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Por Que Avaliar RAG é Diferente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 puro: a resposta está certa ou errada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RAG: 3 componentes independentes: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1. Retrieval: docs recuperados são relevantes?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2. Generation: resposta é fiel aos docs?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3. End-to-end: resposta responde à pergunta?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Cada componente precisa de métricas próprias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isso: não sabe se problema é retrieval ou generation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68 / 85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Métricas — Faithfulness e Answer Relevance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Faithfulness: a resposta é fiel aos docs? (sem alucinação)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Decompor resposta em claims → verificar cada claim contra os docs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Score = claims suportadas / total de claims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Answer relevance: a resposta responde à pergunta?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Gerar perguntas a partir da resposta → comparar com pergunta original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Score = similaridade semântica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Tensão: alta faithfulness pode baixar relevance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69 / 85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Métricas — Context Precision e Context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Context precision: dos docs recuperados, quantos são relevantes?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Score = relevantes no top-k / 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Penaliza ruído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Context recall: dos docs necessários, quantos foram recuperados?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Score = recuperados / necessários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Penaliza gaps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Tensão: mais docs → mais recall, menos precision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Re-ranking melhora precision sem sacrificar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70 / 85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Frameworks: Ragas, TruLens, DeepEval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Ragas: foco em RAG, métricas padronizadas, open-source, integra LangChain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TruLens: tracing + avaliação, dashboard interativo, foco em produção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DeepEval: testes unitários para LLM, integra CI/CD, pytest-style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Critério: stack existente, necessidade de tracing, CI/CD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Todos usam LLM-as-judge internamente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71 / 85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Eval Pipeline — Diagrama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Pipeline: pergunta → retrieve → generate →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Eval coleta: pergunta, docs recuperados, resposta gerada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Métricas: faithfulness, answer_relevance, context_precision, context_recall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Dataset de holdout: perguntas + ground truth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Execução: batch eval em CI/CD para detectar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Diagrama: 12-Diagrams/ETHAGT06/eval-pipeline.mmd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Diagrama D16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72 / 85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LLM-as-Judge e Dataset de Holdout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LLM-as-judge: usar LLM (GPT-4, Claude) para avaliar respostas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Vieses a mitigar: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Position bias → randomizar ordem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Self-preference → usar modelo diferente do gerador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Length bias → normalizar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Dataset de holdout: perguntas curadas com ground truth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Regressão: faithfulness cai 0.90→0.82 → bloquear deploy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Critério do projeto: faithfulness ≥ 0.85, context recall ≥ 0.80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73 / 85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0" b="1">
                <a:solidFill>
                  <a:srgbClr val="E85D2F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2743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Segoe UI"/>
              </a:defRPr>
            </a:pPr>
            <a:r>
              <a:t>Boas Práticas, Anti-Patterns e Próximos Passos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Boas Práticas (DO)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Comece com Adaptive RAG antes de pular para Agentic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Avalie docs recuperados antes de gerar (CRAG)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Use re-ranking sempre que possível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semântico &gt; chunking fixo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Avaliação automatizada desde o dia 1 (Ragas)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Dataset de holdout para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Hybrid search (BM25 + densa) como padrão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max_steps em agentes RAG (guardrail)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75 / 85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Anti-Patterns (DON'T)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Começar com Agentic RAG sem entender Adaptive/CRAG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Chunking fixo sem pensar no conteúdo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Confiar cegamente no top-k sem re-rank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avaliação — 'funciona na demo'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fallback web quando a base local é insuficiente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Adicionar mais docs sem re-rank (mais contexto ≠ melhor)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Sem dataset de holdout — sem como detectar regressão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Query rewriting automático sem validação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76 / 85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Resumo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RAG ingênuo falha silenciosamente — 4 tipos de falha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Adaptive RAG: decide QUANDO recuperar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CRAG: AVALIA docs antes de usar, com fallback web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Self-RAG: reflete sobre docs E resposta (hallucination check)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Agentic RAG: agente dirige todo o processo (multi-hop)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Qualidade: chunking + re-rank + hybrid + query rewriting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Avaliação: faithfulness, relevance, context precision/recall (Ragas)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Escalada: Adaptive → CRAG → Self-RAG → Agentic (comece simples)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77 / 85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Checklist da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Diagnosticou 4 tipos de falha do RAG ingênuo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Explicou Adaptive RAG (decidir quando recuperar)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Implementou CRAG (avaliar + 3 caminhos)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Diferenciou Self-RAG (reflexão sobre resposta)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Descreveu Agentic RAG (agente dirige, multi-hop)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Listou 3+ técnicas de qualidade (chunking, re-rank, hybrid)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[ ] Definiu 4 métricas de avaliação (faithfulness, relevance, precision, recall)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78 / 85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'Qual é a diferença fundamental entre Adaptive RAG e Self-RAG?'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Adaptive usa vector DB, Self-RAG usa grafo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Adaptive decide quando recuperar, Self-RAG também avalia a resposta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Adaptive é mais caro que Self-RAG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Não há diferença significativa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79 / 85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'Em CRAG, quando o sistema decide buscar na web?'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Sempre, como primeiro passo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Quando o avaliador classifica os docs como irrelevantes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Quando a resposta é muito curta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Quando o usuário pede explicitamente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80 / 85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85D2F"/>
                </a:solidFill>
                <a:latin typeface="Segoe UI"/>
              </a:defRPr>
            </a:pPr>
            <a:r>
              <a:t>Quiz — Pergunta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10972800" cy="4572000"/>
          </a:xfrm>
          <a:prstGeom prst="roundRect">
            <a:avLst/>
          </a:prstGeom>
          <a:solidFill>
            <a:srgbClr val="FEF3C7"/>
          </a:solidFill>
          <a:ln w="2540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'Qual métrica mede se a resposta é fiel aos documentos recuperados?'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A) Context precision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B) Answer relevance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C) Faithfulness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D) Context recall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Resposta: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Quiz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81 / 85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Conexão com Próximos Módulos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ETHAGT07 — Knowledge Graphs &amp; Vector DBs (GraphRAG em profundidade)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ETHAGT90 — Projeto final (aplicar Agentic RAG)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Conexão com ETHAGT01: Agentic RAG = Augmented LLM com retrieval in-loop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Conexão com ETHAGT05: memória do agente RAG (estado entre hops)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Conexão com ETHAGT12: AgentOps — traces de agentes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82 / 85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Referências Completas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1. Lewis, P. et al. Retrieval-Augmented Generation. arXiv:2005.11401, 2020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2. Asai, A. et al. Self-RAG. arXiv:2310.11511, 2023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3. Yan, S. et al. Corrective RAG (CRAG). arXiv:2401.15884, 2024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4. Edge, D. et al. GraphRAG: From Local to Global. arXiv:2404.16130, 2024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5. Anthropic. Contextual Retrieval. 2024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6. LangGraph examples: adaptive_rag, crag, self_rag, agentic_rag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7. Cohere. Rerank Documentation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8. Ragas: Evaluation framework for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83 / 85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B3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Universidade Etho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0" y="18288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ETHAGT06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B3A5E"/>
                </a:solidFill>
                <a:latin typeface="Segoe UI"/>
              </a:defRPr>
            </a:pPr>
            <a:r>
              <a:t>Projeto do Módulo +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Projeto: sistema RAG de produção sobre corpus técnico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Pipeline agêntico (Adaptive/CRAG/Agentic)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Eval automatizado com Ragas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Entrega: sistema + eval report + ADR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  Critério: faithfulness ≥ 0.85 e context recall ≥ 0.80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1 (4h): 'Diagnosticando falhas' — RAG ingênuo em corpus problemático</a:t>
            </a:r>
          </a:p>
          <a:p>
            <a:pPr>
              <a:spcAft>
                <a:spcPts val="800"/>
              </a:spcAft>
              <a:defRPr sz="1600">
                <a:solidFill>
                  <a:srgbClr val="0F1E2D"/>
                </a:solidFill>
                <a:latin typeface="Segoe UI"/>
              </a:defRPr>
            </a:pPr>
            <a:r>
              <a:t>Lab 2 (5h): 'Agentic RAG multi-hop' — agente que refina queries e combina fontes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A8F"/>
                </a:solidFill>
                <a:latin typeface="Segoe UI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A8F"/>
                </a:solidFill>
                <a:latin typeface="Segoe UI"/>
              </a:defRPr>
            </a:pPr>
            <a:r>
              <a:t>Slide 84 / 85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E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Segoe UI"/>
              </a:defRPr>
            </a:pPr>
            <a:r>
              <a:t>Perguntas?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B7A8F"/>
                </a:solidFill>
                <a:latin typeface="Segoe UI"/>
              </a:defRPr>
            </a:pPr>
            <a:r>
              <a:t>Contato do professor</a:t>
            </a:r>
            <a:br/>
            <a:r>
              <a:t>Na próxima aula: ETHAGT07 — Knowledge Graphs &amp; Vector DBs</a:t>
            </a:r>
            <a:br/>
            <a:r>
              <a:t>Leitura: Asai et al. Self-RAG (arXiv:2310.11511) antes da próxima aula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E85D2F"/>
                </a:solidFill>
                <a:latin typeface="Segoe UI"/>
              </a:defRPr>
            </a:pPr>
            <a:r>
              <a:t>ETHAGT06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