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terceira aula. Em ETHAGT01 estabelecemos o bloco fundamental e a distinção workflow vs agente. Hoje aprofundamos os 5 padrões canônicos de workflow.</a:t>
            </a:r>
          </a:p>
          <a:p>
            <a:r>
              <a:t>💡 Analogia: arquiteto que conhece 5 tipologias de edifício. Cada padrão resolve uma classe de problema.</a:t>
            </a:r>
          </a:p>
          <a:p>
            <a:r>
              <a:t>❓ 'Quantos já usaram workflow estruturado em produção?'</a:t>
            </a:r>
          </a:p>
          <a:p>
            <a:r>
              <a:t>⚠️ Alunos acham que workflow é 'menos avançado'. Redirecionar: workflow é escolha por previsibilidade.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implementar, identificar, combinar, justificar, medir. O #4 (justificar) é o que diferencia sênior.</a:t>
            </a:r>
          </a:p>
          <a:p>
            <a:r>
              <a:t>❓ 'Qual objetivo vocês acham mais desafiador?' (geralmente #4 ou #5)</a:t>
            </a:r>
          </a:p>
          <a:p>
            <a:r>
              <a:t>⚠️ Alunos confundem 'conhecer os 5 padrões' com 'saber escolher entre eles'.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consolida Intermediário. C2 começa (orchestrator-workers é proto-multi-agente). C5 na prática (avaliar classificadores e loops).</a:t>
            </a:r>
          </a:p>
          <a:p>
            <a:r>
              <a:t>💡 Analogia: ETHAGT01 foi sair do estacionamento. Hoje dirige na cidade com trânsito.</a:t>
            </a:r>
          </a:p>
          <a:p>
            <a:r>
              <a:t>⚠️ 'Básico' não significa 'superficial' — significa fundação.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fundamentação + 3 padrões. Segundo: 2 padrões complexos + composições + fechamento. DEMO de latência é o ponto alto.</a:t>
            </a:r>
          </a:p>
          <a:p>
            <a:r>
              <a:t>💡 Analogia: menu degustação. Cada padrão é um prato. A composição é o prato final.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erro mais caro da indústria de IA hoje é complexidade prematura. Teams pulam para agente onde workflow de 3 passos bastava.</a:t>
            </a:r>
          </a:p>
          <a:p>
            <a:r>
              <a:t>💡 Analogia: construir casa. Não começa pela piscina. Começa pela fundação.</a:t>
            </a:r>
          </a:p>
          <a:p>
            <a:r>
              <a:t>❓ Mãos levantadas: 'Quem já viu agente onde if bastava?'</a:t>
            </a:r>
          </a:p>
          <a:p>
            <a:r>
              <a:t>⚠️ Workflow não é 'iniciante'. É escolha de engenharia por previsibilidade.</a:t>
            </a:r>
          </a:p>
          <a:p>
            <a:r>
              <a:t>➡️ Esse princípio é de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fundamentos. Por que workflows primeiro? Qual a hierarquia de complexidade?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Hierarquia de complexidade. Base (Nível 0) resolve 90%. Só escale com evidência (métricas, testes, custos).</a:t>
            </a:r>
          </a:p>
          <a:p>
            <a:r>
              <a:t>💡 Analogia: escada de atendimento médico. Auto-cuidado → clínico → especialista → hospital → UTI. Não manda tudo para UTI.</a:t>
            </a:r>
          </a:p>
          <a:p>
            <a:r>
              <a:t>❓ 'Em que nível está o sistema de vocês?' (maioria em 0-1 achando que está em 3)</a:t>
            </a:r>
          </a:p>
          <a:p>
            <a:r>
              <a:t>⚠️ Pular para Nível 3 sem tentar Nível 1 é 'resume-driven development'.</a:t>
            </a:r>
          </a:p>
          <a:p>
            <a:r>
              <a:t>➡️ Recap da distinção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 da distinção canônica. Workflow = código orquestra LLMs. Agente = LLM orquestra a si mesmo. A diferença é CONTROLE.</a:t>
            </a:r>
          </a:p>
          <a:p>
            <a:r>
              <a:t>💡 Analogia: trem (workflow — trilhos predefinidos) vs táxi (agente — motorista decide).</a:t>
            </a:r>
          </a:p>
          <a:p>
            <a:r>
              <a:t>⚠️ Workflow não é 'menos poderoso'. É mais PREVISÍVEL. Em produção, previsibilidade é poder.</a:t>
            </a:r>
          </a:p>
          <a:p>
            <a:r>
              <a:t>➡️ Os 5 padrões.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Anthropic catalogou 5 padrões que cobrem a maioria dos casos de produção. Cada um resolve uma classe: linear (chaining), categorias (routing), independência (parallel), dinâmica (orchestrator), refinamento (evaluator).</a:t>
            </a:r>
          </a:p>
          <a:p>
            <a:r>
              <a:t>💡 Analogia: 5 ferramentas na caixa. Martelo, chave-inglesa, alicate, furadeira, lixadeira. Cada uma para um parafuso.</a:t>
            </a:r>
          </a:p>
          <a:p>
            <a:r>
              <a:t>❓ 'Qual desses 5 vocês já usaram em produção?' (geralmente routing e chaining)</a:t>
            </a:r>
          </a:p>
          <a:p>
            <a:r>
              <a:t>⚠️ Não use orchestrator para tudo porque 'parece avançado'.</a:t>
            </a:r>
          </a:p>
          <a:p>
            <a:r>
              <a:t>➡️ Quando cada um brilha.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mapa mental da aula. A coluna 'evitar' é tão importante quanto 'usar'. Cada padrão tem armadilha.</a:t>
            </a:r>
          </a:p>
          <a:p>
            <a:r>
              <a:t>💡 Analogia: guia de restaurantes por ocasião. Encontro rápido → lanchonete. Jantar romântico → elegante.</a:t>
            </a:r>
          </a:p>
          <a:p>
            <a:r>
              <a:t>⚠️ Decorem 'usar' mas NÃO esqueçam 'evitar'.</a:t>
            </a:r>
          </a:p>
          <a:p>
            <a:r>
              <a:t>➡️ Primeiro padrão: prompt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padrão. Cadeia de chamadas LLM com gates programáticos entre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Estrutura: LLM → gate → LLM → gate → saída. Cada LLM foca em UMA coisa. Gates são código puro (determinísticos). A combinação de passos focados (qualidade) e gates (controle) é o poder.</a:t>
            </a:r>
          </a:p>
          <a:p>
            <a:r>
              <a:t>💡 Analogia: linha de montagem. Estações (LLM) + inspetores de qualidade (gates).</a:t>
            </a:r>
          </a:p>
          <a:p>
            <a:r>
              <a:t>❓ 'Por que gates são código e não LLM?' (determinismo)</a:t>
            </a:r>
          </a:p>
          <a:p>
            <a:r>
              <a:t>⚠️ Gate com LLM é evaluator-optimizer, não prompt chaining.</a:t>
            </a:r>
          </a:p>
          <a:p>
            <a:r>
              <a:t>➡️ Onde colocar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tipos de gate. Validação estrutural (schema), classificação (tipo), formatação (JSON), filtro de qualidade (regras de negócio). Ao falhar: retry, fallback ou escalada.</a:t>
            </a:r>
          </a:p>
          <a:p>
            <a:r>
              <a:t>💡 Analogia: alfândega. Conferência documental, de tipo, de formato, de segurança.</a:t>
            </a:r>
          </a:p>
          <a:p>
            <a:r>
              <a:t>⚠️ Não coloque gates demais. Cada gate adiciona latência. Só se o custo de NÃO ter é maior.</a:t>
            </a:r>
          </a:p>
          <a:p>
            <a:r>
              <a:t>➡️ Vale a latência?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Trade-off central: latência vs accuracy. Serial soma latência. Mas cada step focado = melhor qualidade. A questão: o ganho compensa a latência? Depende do domínio.</a:t>
            </a:r>
          </a:p>
          <a:p>
            <a:r>
              <a:t>💡 Analogia: revisar texto. Uma passada pega 80% dos erros. Duas pegam 95%. Três pegam 98%. Quarta mal agrega.</a:t>
            </a:r>
          </a:p>
          <a:p>
            <a:r>
              <a:t>⚠️ Sem medição, você não sabe se o gate ajuda ou só adiciona latência.</a:t>
            </a:r>
          </a:p>
          <a:p>
            <a:r>
              <a:t>➡️ Código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LLM tem prompt focado. Gates de código: validate_schema e score &lt; threshold. Gate falha? Retry com feedback específico.</a:t>
            </a:r>
          </a:p>
          <a:p>
            <a:r>
              <a:t>💡 Analogia: escritor revisando. Escreve → verifica estrutura → editor revisa → se nota baixa, reescreve.</a:t>
            </a:r>
          </a:p>
          <a:p>
            <a:r>
              <a:t>⚠️ Sem retry no gate, um gate falho vira erro fatal.</a:t>
            </a:r>
          </a:p>
          <a:p>
            <a:r>
              <a:t>➡️ Vamos praticar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turma pensar. Pergunta é sobre verificação ESTRUTURAL. Exemplos: nº de parágrafos, glossário preservado, variáveis {entre_chaves} não traduzidas, contagem de tokens.</a:t>
            </a:r>
          </a:p>
          <a:p>
            <a:r>
              <a:t>💡 Analogia: inspetor de obra verifica planta (estrutura), não se a casa é bonita (semântica).</a:t>
            </a:r>
          </a:p>
          <a:p>
            <a:r>
              <a:t>❓ 'Compartilhem 2 respostas.'</a:t>
            </a:r>
          </a:p>
          <a:p>
            <a:r>
              <a:t>⚠️ 'Verificar se a tradução é fiel' é evaluator, não gate.</a:t>
            </a:r>
          </a:p>
          <a:p>
            <a:r>
              <a:t>➡️ Segundo padrão: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padrão. Separação de concerns: classificar é mais barato que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Ideia central: separar classificação de resolução. Classificar (técnico/billing/geral) é mais barato que resolver. Modelo barato classifica, handler especializado resolve. Ganho duplo: custo + qualidade.</a:t>
            </a:r>
          </a:p>
          <a:p>
            <a:r>
              <a:t>💡 Analogia: recepção de hospital. Recepcionista (router) classifica, especialista resolve.</a:t>
            </a:r>
          </a:p>
          <a:p>
            <a:r>
              <a:t>⚠️ Um LLM para tudo sem classificar infla custo e reduz qualidade.</a:t>
            </a:r>
          </a:p>
          <a:p>
            <a:r>
              <a:t>➡️ Routing por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Routing por modelo. Router classifica dificuldade. Fácil → Haiku (10x mais barato). Difícil → Sonnet. 80% fáceis × Haiku é muito mais barato que 100% × Sonnet.</a:t>
            </a:r>
          </a:p>
          <a:p>
            <a:r>
              <a:t>💡 Analogia: hospital. Casos leves → clínico (Haiku). Complexos → especialista (Sonnet).</a:t>
            </a:r>
          </a:p>
          <a:p>
            <a:r>
              <a:t>⚠️ Confiar cegamente no router é perigoso. Incerteza → path robusto.</a:t>
            </a:r>
          </a:p>
          <a:p>
            <a:r>
              <a:t>➡️ Routing não é só por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Outra forma de routing: por prompt e tools. Mesmo modelo (Sonnet para todos), mas cada categoria carrega system prompt e tools diferentes. Vantagem: foco. Menos tools no contexto = menos confusão = melhor qualidade.</a:t>
            </a:r>
          </a:p>
          <a:p>
            <a:r>
              <a:t>💡 Analogia: médico com várias especialidades mas ativa só a relevante.</a:t>
            </a:r>
          </a:p>
          <a:p>
            <a:r>
              <a:t>⚠️ Carregar TODAS as tools sempre confunde o modelo. Menos tools bem selecionadas &gt; muitas genéricas.</a:t>
            </a:r>
          </a:p>
          <a:p>
            <a:r>
              <a:t>➡️ Como avaliar o router?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Router é classificador. Tem matriz de confusão, precision, recall. O erro mais caro é falso negativo em routing por modelo: difícil classificado como fácil vai para Haiku e vira resposta ruim. Mitigação: incerteza → path robusto.</a:t>
            </a:r>
          </a:p>
          <a:p>
            <a:r>
              <a:t>💡 Analogia: triagem médica. Erro tipo I (mandar grave para casa) é pior que tipo II (manter leve no hospital).</a:t>
            </a:r>
          </a:p>
          <a:p>
            <a:r>
              <a:t>⚠️ Sem matriz de confusão, você não sabe quais categorias confundem.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Padrão limpo: router classifica, switch/case despacha, cada handler tem prompt+modelo+tools. Fallback 'unknown' → Sonnet com todas as tools. response_format=json evita parsing frágil.</a:t>
            </a:r>
          </a:p>
          <a:p>
            <a:r>
              <a:t>💡 Analogia: PABX. Recepcionista virtual direciona para o ramal certo. Se não sabe, recepção humana.</a:t>
            </a:r>
          </a:p>
          <a:p>
            <a:r>
              <a:t>⚠️ Sem fallback, categoria não prevista quebra o sistema.</a:t>
            </a:r>
          </a:p>
          <a:p>
            <a:r>
              <a:t>➡️ Vamos discutir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Q1: logs de classificação vs ground truth → matriz de confusão. Q2: recall mais importante quando difícil→fácil é caro. Q3: 10% fáceis→difíceis é aceitável (custa mais mas resolve). O problema real é o oposto.</a:t>
            </a:r>
          </a:p>
          <a:p>
            <a:r>
              <a:t>💡 Analogia: triagem de aeroporto. Comum→detalhada só atrasa. Suspeito→rápida é perigoso.</a:t>
            </a:r>
          </a:p>
          <a:p>
            <a:r>
              <a:t>⚠️ Accuracy global esconde vieses por categoria. Sempre precision/recall por categoria.</a:t>
            </a:r>
          </a:p>
          <a:p>
            <a:r>
              <a:t>➡️ Intervalo! Voltamos com parallelization.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padrão. Duas variantes: sectioning (subtarefas independentes) e voting (mesma tarefa N vezes para robustez).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Sectioning: dividir em partes independentes e rodar em paralelo. Ganho principal é latência: max em vez de sum. Mas NÃO reduz custo — paga todas as chamadas. Reducer agrega. Crítico: INDEPENDÊNCIA real.</a:t>
            </a:r>
          </a:p>
          <a:p>
            <a:r>
              <a:t>💡 Analogia: buffet. 3 pessoas servem pratos diferentes simultaneamente. Tempo = pessoa mais lenta.</a:t>
            </a:r>
          </a:p>
          <a:p>
            <a:r>
              <a:t>❓ 'Por que paralelismo não reduz custo?' (paga todas as chamadas)</a:t>
            </a:r>
          </a:p>
          <a:p>
            <a:r>
              <a:t>⚠️ Subtarefas com dependência oculta = erro. Precisa orchestrator.</a:t>
            </a:r>
          </a:p>
          <a:p>
            <a:r>
              <a:t>➡️ A outra variante: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Voting: mesma tarefa N vezes com variação. Agrega por maioria (classificação) ou seleção (geração). Ganho: robustez (reduz variância). Mas NÃO resolve viés — voting reforça erro sistemático.</a:t>
            </a:r>
          </a:p>
          <a:p>
            <a:r>
              <a:t>💡 Analogia: 3 médicos independentes. Se concordam, alta confiança. Se discordam, investiga. Mas mesmo viés = maioria reforça erro.</a:t>
            </a:r>
          </a:p>
          <a:p>
            <a:r>
              <a:t>⚠️ Voting não corrige viés. Corrige variância.</a:t>
            </a:r>
          </a:p>
          <a:p>
            <a:r>
              <a:t>➡️ Variação híbrida: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Guardrails em paralelo: modelo principal gera, segundo modelo avalia segurança. Se problema, bloqueia/regenera. Latência zero (paralelo). Custo 2× mas segurança crítica.</a:t>
            </a:r>
          </a:p>
          <a:p>
            <a:r>
              <a:t>💡 Analogia: segurança em evento. Garçom serve (modelo principal), segurança observa (guardrail). Trabalham em paralelo.</a:t>
            </a:r>
          </a:p>
          <a:p>
            <a:r>
              <a:t>⚠️ Guardrails em série adiciona latência. Paralelo é o ponto.</a:t>
            </a:r>
          </a:p>
          <a:p>
            <a:r>
              <a:t>➡️ Outra aplicação: LLM-as-judge.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LLM-as-judge: LLM avalia saída de outro LLM. Em paralelo, N juízes + agregação reduz variância. Mas viés é sistemático — voting reforça. Para viés, calibre o juiz (rubric).</a:t>
            </a:r>
          </a:p>
          <a:p>
            <a:r>
              <a:t>💡 Analogia: painel de jurados. Vários reduzem variância da nota. Mas mesmo viés = média não corrige.</a:t>
            </a:r>
          </a:p>
          <a:p>
            <a:r>
              <a:t>⚠️ N juízes idênticos (mesmo modelo, mesmo prompt) não reduz variância. Precisa variação.</a:t>
            </a:r>
          </a:p>
          <a:p>
            <a:r>
              <a:t>➡️ Armadilhas do parallelization.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armadilhas. Dependência oculta (desenhe DAG antes). Custo explodindo (log de custo desde dia 1). Reducer mal feito (síntese perde insight). Timeout (use timeout + fallback).</a:t>
            </a:r>
          </a:p>
          <a:p>
            <a:r>
              <a:t>💡 Analogia: coordenar equipe. Dependência ociosa = 'espera seu relatório'. Custo = cada um contratou 5 freelancers. Reducer = gestor resume em 1 linha. Timeout = membro sumiu.</a:t>
            </a:r>
          </a:p>
          <a:p>
            <a:r>
              <a:t>⚠️ Sem log de custo desde o início, custo explode silenciosamente.</a:t>
            </a:r>
          </a:p>
          <a:p>
            <a:r>
              <a:t>➡️ Código de ambos os modos.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asyncio.gather() para ambas. Sectioning: funções diferentes (analisa partes diferentes). Voting: mesma função com temperatura diferente. Reducer agrega. Única diferença é o que vai no gather.</a:t>
            </a:r>
          </a:p>
          <a:p>
            <a:r>
              <a:t>💡 Analogia: Sectioning = equipe onde cada um faz parte do relatório. Voting = mesma equipe escreve 5 vezes e escolhe o melhor.</a:t>
            </a:r>
          </a:p>
          <a:p>
            <a:r>
              <a:t>⚠️ gather sem return_exceptions=True lança exceção se uma chamada falha.</a:t>
            </a:r>
          </a:p>
          <a:p>
            <a:r>
              <a:t>➡️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demo mais importante do módulo. Mesma tarefa, duas formas. Serial: ~9s. Paralelo: ~3s. Mas custo IDÊNTICO — paguei as mesmas 3 chamadas. Paralelismo não reduz custo, reduz latência.</a:t>
            </a:r>
          </a:p>
          <a:p>
            <a:r>
              <a:t>💡 Analogia: lavar 3 pratos. Um de cada vez = 3 min. Três pessoas = 1 min. Mas pagou 3 pessoas nos dois casos.</a:t>
            </a:r>
          </a:p>
          <a:p>
            <a:r>
              <a:t>❓ 'Quando paralelismo NÃO vale a pena?' (quando custo é o gargalo, não latência)</a:t>
            </a:r>
          </a:p>
          <a:p>
            <a:r>
              <a:t>⚠️ Paralelismo NÃO reduz custo. Só reduz latência.</a:t>
            </a:r>
          </a:p>
          <a:p>
            <a:r>
              <a:t>➡️ Vamos praticar sectioning vs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1=Sectioning (páginas diferentes). 2=Voting (mesma pergunta, robustez). 3=Sectioning para gerar (cópias diferentes), Voting para escolher a melhor. Regra: sectioning quando DIFERENTES; voting quando MESMA tarefa + robustez.</a:t>
            </a:r>
          </a:p>
          <a:p>
            <a:r>
              <a:t>💡 Analogia: Sectioning = 3 pessoas cozinhando pratos diferentes. Voting = 3 pessoas provando o mesmo vinho.</a:t>
            </a:r>
          </a:p>
          <a:p>
            <a:r>
              <a:t>⚠️ Voting para subtarefas independentes é desperdício.</a:t>
            </a:r>
          </a:p>
          <a:p>
            <a:r>
              <a:t>➡️ Intervalo! Voltamos com orchestrator-workers.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padrão. O mais confundido com parallelization. Distinção: subtarefas DINÂMICAS vs FIXAS.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Distinção MAIS importante da aula. Parallelization: subtarefas fixas (você sabe). Orchestrator-workers: dinâmicas (orquestrador decide). Se fixas, use parallelization. Se dinâmicas, orchestrator.</a:t>
            </a:r>
          </a:p>
          <a:p>
            <a:r>
              <a:t>💡 Analogia: Parallelization = receita de bolo (passos conhecidos). Orchestrator = resolver mistério (descobre passos).</a:t>
            </a:r>
          </a:p>
          <a:p>
            <a:r>
              <a:t>❓ 'Para 3 fontes fixas, qual padrão?' (Parallelization)</a:t>
            </a:r>
          </a:p>
          <a:p>
            <a:r>
              <a:t>⚠️ Orchestrator para subtarefas fixas = custo e latência desnecessários.</a:t>
            </a:r>
          </a:p>
          <a:p>
            <a:r>
              <a:t>➡️ Papel do orquestrador.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Orquestrador tem 3 papéis. Planejar (decompõe). Delegar (despacha). Sintetizar (integra). NÃO executa — só coordena. Workers é que fazem. Separação de planejamento e execução melhora qualidade.</a:t>
            </a:r>
          </a:p>
          <a:p>
            <a:r>
              <a:t>💡 Analogia: maestro. Não toca instrumentos — coordena. Olha partitura (planejar), indica quem entra (delegar), integra sons (sintetizar).</a:t>
            </a:r>
          </a:p>
          <a:p>
            <a:r>
              <a:t>⚠️ Orquestrador executando subtarefas quebra o padrão.</a:t>
            </a:r>
          </a:p>
          <a:p>
            <a:r>
              <a:t>➡️ Arquitetura de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componentes: decompositor (LLM planeja), workers (pool executa), reducer (LLM agrega). Estado passa entre componentes. Plan-and-Solve: separar melhora. ReWOO: plano sem reagir permite paralelismo total. LLMCompiler: formaliza fan-out.</a:t>
            </a:r>
          </a:p>
          <a:p>
            <a:r>
              <a:t>💡 Analogia: empresa de consultoria. Sócio sênior (decompositor) divide. Consultores (workers) executam. Sócio (reducer) integra.</a:t>
            </a:r>
          </a:p>
          <a:p>
            <a:r>
              <a:t>⚠️ Sem estado persistente, reducer não acessa resultados dos workers.</a:t>
            </a:r>
          </a:p>
          <a:p>
            <a:r>
              <a:t>➡️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casos clássicos. Coding multi-arquivo (orquestrador decide arquivos). Search multi-fonte (orquestrador decide fontes). Relatório (orquestrador divide por tópico). Sinal comum: não sabe steps de antemão.</a:t>
            </a:r>
          </a:p>
          <a:p>
            <a:r>
              <a:t>💡 Analogia: general em campanha. Não sabe quantas batalhas — decide conforme terreno. Cada batalha diferente. Integra vitórias.</a:t>
            </a:r>
          </a:p>
          <a:p>
            <a:r>
              <a:t>❓ 'Pensem: subtarefas fixas ou dinâmicas no sistema de vocês?'</a:t>
            </a:r>
          </a:p>
          <a:p>
            <a:r>
              <a:t>⚠️ Orchestrator para passos fixos = overkill.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Comparem com parallelization (Slide 30). Diferença: planner LLM gera subtarefas dinamicamente (não hardcoded). Depois, mesmo padrão: gather para paralelizar. MAS há step extra: synthesizer integra. Sem ele, N resultados soltos.</a:t>
            </a:r>
          </a:p>
          <a:p>
            <a:r>
              <a:t>💡 Analogia: diretor de filme. Roteiro (planner) diz cenas. Câmeras (workers) filmam em paralelo. Editor (synthesizer) monta o filme.</a:t>
            </a:r>
          </a:p>
          <a:p>
            <a:r>
              <a:t>⚠️ Sem synthesizer: N respostas fragmentadas em vez de resposta integrada.</a:t>
            </a:r>
          </a:p>
          <a:p>
            <a:r>
              <a:t>➡️ Vamos quebrar um mito.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Armadilha 'mais complexo = melhor'. FALSO. Orchestrator adiciona custo (chamada extra de planejamento) e latência (step serial). Se subtarefas fixas, parallelization vence.</a:t>
            </a:r>
          </a:p>
          <a:p>
            <a:r>
              <a:t>💡 Analogia: receita vs improvisação. Se tem receita (fixas), siga-a. Improvisar (orchestrator) só quando não tem.</a:t>
            </a:r>
          </a:p>
          <a:p>
            <a:r>
              <a:t>❓ 'Votem: V ou F?'</a:t>
            </a:r>
          </a:p>
          <a:p>
            <a:r>
              <a:t>⚠️ Complexidade sem necessidade = débito técnico.</a:t>
            </a:r>
          </a:p>
          <a:p>
            <a:r>
              <a:t>➡️ Quinto padrão: evaluator-optimizer.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e último padrão. Loop: gerar, avaliar, refinar até satisfazer critério.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Loop: generator → evaluator → optimizer. Evaluator avalia contra critério. Se abaixo, optimizer refina com feedback. Repete até parar. Diferença de ReAct: aqui é contra critério interno, não ambiente externo.</a:t>
            </a:r>
          </a:p>
          <a:p>
            <a:r>
              <a:t>💡 Analogia: escritor com editor. Escreve, editor avalia contra critérios, revisa com feedback. Repete até aprovar.</a:t>
            </a:r>
          </a:p>
          <a:p>
            <a:r>
              <a:t>⚠️ Confundir com ReAct é comum. ReAct age no ambiente; evaluator avalia contra critério.</a:t>
            </a:r>
          </a:p>
          <a:p>
            <a:r>
              <a:t>➡️ Quando vale?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condições. Feedback articulável (explica o quê, não só que). LLM consegue avaliar (critério objetivo). Iteração melhora (modelo não trava). Se evaluator é fraco, loop diverge.</a:t>
            </a:r>
          </a:p>
          <a:p>
            <a:r>
              <a:t>💡 Analogia: professor de piano. 'Toque com mais sentimento' (não-articulável) = não melhora. 'Diminua tempo no 3º compasso' (articulável) = melhora.</a:t>
            </a:r>
          </a:p>
          <a:p>
            <a:r>
              <a:t>⚠️ Feedback vago ('melhore') não converge.</a:t>
            </a:r>
          </a:p>
          <a:p>
            <a:r>
              <a:t>➡️ Como estruturar critérios.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Qualidade depende dos critérios. Vago não converge. Claro é verificável. Melhor: rubric (dimensões, escala, descrição por nível). LLM-as-judge com rubric é significativamente mais consistente.</a:t>
            </a:r>
          </a:p>
          <a:p>
            <a:r>
              <a:t>💡 Analogia: rubric de redação do ENEM. Sem rubric, cada corretor dá nota diferente. Com rubric (competências, níveis), mais consistente.</a:t>
            </a:r>
          </a:p>
          <a:p>
            <a:r>
              <a:t>⚠️ 'Bom/médio/ruim' é frágil. Sempre escala numérica (1-5) + descrição por nível.</a:t>
            </a:r>
          </a:p>
          <a:p>
            <a:r>
              <a:t>➡️ Quando parar o loop?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critérios de parada. Score (qualidade). Max iters (orçamento). Delta estagnado (detecta platô). Sempre ≥2: score OU max iters. Sem max iters = custo explode. Cada iteração = 2 chamadas.</a:t>
            </a:r>
          </a:p>
          <a:p>
            <a:r>
              <a:t>💡 Analogia: treinar para maratona. Score = correr 42km (meta). Max iters = 12 semanas (tempo). Delta = se tempo não melhora por 2 semanas, pare.</a:t>
            </a:r>
          </a:p>
          <a:p>
            <a:r>
              <a:t>⚠️ Só score (sem max iters) = loop explode.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condições no código: score ≥ threshold, delta &lt; 0.1, iter ≥ max. Optimizer recebe output + feedback, produz versão melhorada. Em produção, loguem cada iteração (score, feedback) para debugar convergência.</a:t>
            </a:r>
          </a:p>
          <a:p>
            <a:r>
              <a:t>💡 Analogia: code review. Envia PR (generator). Revisor avalia (evaluator). Se rejeita com comentários, revisa (optimizer). Repete até aprovar ou limite.</a:t>
            </a:r>
          </a:p>
          <a:p>
            <a:r>
              <a:t>⚠️ Sem log de scores, não sabe se converge ou diverge.</a:t>
            </a:r>
          </a:p>
          <a:p>
            <a:r>
              <a:t>➡️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Threshold NÃO 5.0 (perfeição inatingível em literário). Use média de rubric (fidelidade, fluência, ritmo, tom) ≥ 4.0. Max iters 3-4 (literário não melhora indefinidamente; modelo trava). Delta estagnado.</a:t>
            </a:r>
          </a:p>
          <a:p>
            <a:r>
              <a:t>💡 Analogia: polir escultura. Primeiras passadas dão forma. Últimas mal mudam. Saber parar é arte.</a:t>
            </a:r>
          </a:p>
          <a:p>
            <a:r>
              <a:t>❓ 'Compartilhem 2 respostas.'</a:t>
            </a:r>
          </a:p>
          <a:p>
            <a:r>
              <a:t>⚠️ Threshold=5.0 = loop nunca converge = perde orçamento.</a:t>
            </a:r>
          </a:p>
          <a:p>
            <a:r>
              <a:t>➡️ Composições.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prática, raramente usamos um padrão isolado. Combinamos. Mas a fronteira entre workflow composto e agente é tênue.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Composição mais comum em produção. 3 camadas: routing (custo), parallelization (latência), evaluator (qualidade). Cada uma resolve problema diferente.</a:t>
            </a:r>
          </a:p>
          <a:p>
            <a:r>
              <a:t>💡 Analogia: restaurante. Hostess (routing) direciona. Garçom (parallelization) pede em paralelo. Chef (evaluator) prova antes de servir.</a:t>
            </a:r>
          </a:p>
          <a:p>
            <a:r>
              <a:t>⚠️ Não componha sem justificar. Cada camada adiciona custo+latência. Só se agrega valor mensurável.</a:t>
            </a:r>
          </a:p>
          <a:p>
            <a:r>
              <a:t>➡️ Quando vira agente?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Fronteira tênue. Workflow composto: você define camadas, ordem, gates. Agente: LLM decide. Mas routing dinâmico + loops + branches suficientes = semi-agêntico. Sinal de transição: meta-step decide caminho. ETHAGT04 aprofunda.</a:t>
            </a:r>
          </a:p>
          <a:p>
            <a:r>
              <a:t>💡 Analogia: receita (workflow) vs cozinhar 'no feeling' (agente). No meio: receitas com variações ('se molho grosso, adicione água') = semi-agêntico.</a:t>
            </a:r>
          </a:p>
          <a:p>
            <a:r>
              <a:t>❓ 'O que diferencia workflow composto de agente para vocês?' (debate)</a:t>
            </a:r>
          </a:p>
          <a:p>
            <a:r>
              <a:t>⚠️ Workflow composto ≠ agente. Enquanto caminho é predefinido (mesmo com condicionais), é workflow.</a:t>
            </a:r>
          </a:p>
          <a:p>
            <a:r>
              <a:t>➡️ Sinais de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sinais de que problema pede agente. Gates viram LLM disfarçado. Routing tem 20 categorias crescendo. Loops aninhados. Evaluator sem contexto do generator. 'Depende do step anterior'.</a:t>
            </a:r>
          </a:p>
          <a:p>
            <a:r>
              <a:t>💡 Analogia: dirigir com marchas pré-programadas. Funciona em reta. Em trânsito caótico, precisa motorista que decide — agente.</a:t>
            </a:r>
          </a:p>
          <a:p>
            <a:r>
              <a:t>⚠️ Insistir em workflow por 'previsibilidade' em problema dinâmico = ilusão.</a:t>
            </a:r>
          </a:p>
          <a:p>
            <a:r>
              <a:t>➡️ Trade-offs consolidados.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Tabela MAIS importante do módulo. 5 padrões × 4 eixos. Chaining: previsível mas lento. Routing: barato/rápido. Parallelization: rápido mas caro. Orchestrator: flexível mas menos previsível. Evaluator: previsível mas caro/lento. Escolha pelas restrições.</a:t>
            </a:r>
          </a:p>
          <a:p>
            <a:r>
              <a:t>💡 Analogia: escolher transporte. Bicicleta (routing). Carro (parallelization). Táxi (orchestrator). Avião (evaluator). Trem (chaining).</a:t>
            </a:r>
          </a:p>
          <a:p>
            <a:r>
              <a:t>⚠️ Escolher pelo padrão 'favorito' é erro. Escolha pelas restrições.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Caso real, resumo, quiz, exercício final, projeto,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Coinbase e Intercom usam composição que vimos (Slide 48). Por que workflow e não agente? Suporte exige previsibilidade. Cada resposta consistente, auditável, dentro de SLA. Agente autônomo = custo imprevisível, latência variável.</a:t>
            </a:r>
          </a:p>
          <a:p>
            <a:r>
              <a:t>💡 Analogia: call center estruturado (workflow) vs consultor freelancer (agente). Em escala, call center vence.</a:t>
            </a:r>
          </a:p>
          <a:p>
            <a:r>
              <a:t>⚠️ Maioria de produção usa workflow composto, não agente autônomo.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5 padrões = caixa de ferramentas. Gates = determinismo. Parallelization tem 2 modos. Orchestrator = dinâmico. Evaluator = critérios+parada. Componha mas saiba quando vira agente. Comece simples.</a:t>
            </a:r>
          </a:p>
          <a:p>
            <a:r>
              <a:t>💡 Analogia: decálogo do engenheiro de workflows. Sete mandamentos.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final. Se algum item sem check, vale revisitar. Os não-cobertos viram leitura recomendada.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C. Distinção: parallelization = fixas; orchestrator = dinâmicas. A é falso (orchestrator é mais lento por step de planejamento). B é falso (ambos usam qualquer modelo). D é falso (ambos têm reducer).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Gate é CÓDIGO (determinístico), não LLM. Se fosse LLM, seria evaluator-optimizer. A é a armadilha clássica.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Se evaluator é mais fraco que generator, feedback é pior que saída. Loop diverge. A, C, D são quando VALE a pena.</a:t>
            </a:r>
          </a:p>
          <a:p>
            <a:r>
              <a:t>➡️ Última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Falso negativo (difícil→fácil) gera resposta RUIM. A é apenas ineficiência (custo extra, resposta boa). Mitigação: incerteza → path robusto.</a:t>
            </a:r>
          </a:p>
          <a:p>
            <a:r>
              <a:t>➡️ Exercício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de consolidação. A chave é a JUSTIFICATIVA — por que este padrão e não outro? Baseiem nas restrições do problema.</a:t>
            </a:r>
          </a:p>
          <a:p>
            <a:r>
              <a:t>💡 Analogia: diagnóstico médico. Cada sintoma pede tratamento diferente. O bom médico justifica.</a:t>
            </a:r>
          </a:p>
          <a:p>
            <a:r>
              <a:t>❓ 'Compartilhem 2 grupos com justificativas.'</a:t>
            </a:r>
          </a:p>
          <a:p>
            <a:r>
              <a:t>⚠️ Orchestrator para tudo ('parece avançado') = erro. Justifique nas restrições.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 é entrega principal. Código funciona é pré-requisito. O ADR é o que vale — justificativa com dados. Lab 1 implementa os 5 isoladamente. Lab 2 compõe.</a:t>
            </a:r>
          </a:p>
          <a:p>
            <a:r>
              <a:t>💡 Analogia: defesa de tese. Código é a tese (precisa existir). ADR é a defesa (precisa convencer).</a:t>
            </a:r>
          </a:p>
          <a:p>
            <a:r>
              <a:t>⚠️ Sem medições (≥20 casos), ADR é opinião, não engenharia.</a:t>
            </a:r>
          </a:p>
          <a:p>
            <a:r>
              <a:t>➡️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ETHAGT03 é fundação para ETHAGT04 (reasoning), 09 (multi-agente), 10 (orquestração). Leitura obrigatória: Anthropic (fonte dos 5 padrões). Papers aprofundam orchestrator (Plan-and-Solve, ReWOO) e parallelization (LLMCompiler).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Abrir para Q&amp;A. Se não houver perguntas: 'Qual padrão foi menos claro?' Mensagem final: 'Os 5 padrões são a caixa de ferramentas. A escolha certa é o que diferencia engenharia de tentativa-e-erro. Pratiquem no Lab 1 — implementar os 5 em um dia é a melhor forma de fixar.'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Padrões de Workflow Agêntico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A — Fundamentos Agênticos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os 5 padrões canônicos de workflow e suas composições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Implementar os 5 workflows (chaining, routing, parallelization, orchestrator, evaluator)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Identificar gates programáticos e onde inseri-los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Combinar workflows em pipelines complexos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Justificar workflow vs agente autônomo em cenário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Medir trade-offs de custo/latência/qualidade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consolida Intermediário: projetar workflow que melhor se ajusta ao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começa: orchestrator-workers é proto-multi-agente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na prática: avaliar classificadores e convergência de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(6 min) — objetivos, motivação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Por Que Workflows (7 min) — princípio, 5 padrões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Chaining (8 min) — estrutura, gates,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(9 min) — classificação, modelos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Parallelization (15 min) — sectioning, voting,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Orchestrator-Workers (10 min) — delegação dinâmica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Evaluator-Optimizer (10 min) — loop, critérios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Composições (8 min) — composição,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(17 min) — caso,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Comece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time usa agente autônomo onde um 'if' bastava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chatbot de suporte com 3 etapas fixas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(classificar → buscar → responder) — agente livre é overkill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de Anthropic: comece simples, só aumente com evidência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complexidade prematura: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Debugging difícil (caminho não determinístico)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 imprevisível (nº de chamadas varia)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Latência alta (loops extras)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Quantos já viram projeto que usou agente onde um if bastava?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complexidade prematura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 Que Workflows Antes de Agentes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Princípio de Anthropic: Comece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'Comece simples, só aumente complexidade com evidência' — Anthropic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Níveis de escalada: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0: Single LLM call + retrieval + examples  (90% dos casos)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1: Workflow simples (prompt chaining)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2: Workflow complexo (orchestrator-workers)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3: Agente autônomo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4: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só suba um nível com EVIDÊNCIA de que o anterior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Hierarquia de complexidade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Workflows vs Agentes (Recap)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Workflows: LLMs e tools orquestrados via CÓDIGO PREDEFINIDO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previsibilidade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Agentes: LLM DIRECIONA seu próprio processo e tool usage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 = controle do DESENVOLVEDOR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= controle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Este módulo: foco total em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aprofunda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Recap de ETHAGT01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Os 5 Workflows Canônicos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Prompt Chaining — sequência de steps com gates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Routing — classificação + dispatch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Parallelization — sectioning / voting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Orchestrator-Workers — delegação dinâmica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Evaluator-Optimizer — loop de refinamento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padrão resolve uma CLASSE de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 (um .mmd por padrão)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padrões canônicos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Cada Padrão Brilha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Chaining: tarefa linear com checkpoints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tarefas simples (uma chamada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categorias discretas com tratamento especializado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continuum sem fronteiras claras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Parallelization: subtarefas independentes ou votação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subtarefas com dependências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Orchestrator-Workers: subtarefas dinâmicas não conhecidas a priori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subtarefas fixas e conhecidas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Evaluator-Optimizer: feedback articulável e iterável melhora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evaluator não é melhor que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de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Prompt Chaining: Sequência com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Estrutura: LLM → Gate → LLM →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Cadeia de chamadas LLM intercaladas com GATES PROGRAMÁTICOS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= código determinístico (NÃO LLM) que decide: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continuar?  • rodar de novo?  • parar?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step tem prompt especializado e contexto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Saída de um step = entrada do próximo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capturam erros cedo → menos retrabalho downstream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12-Diagrams/ETHAGT03/prompt-chaining.mmd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Estrutura do prompt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Onde Adicionar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tipos principais: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Validação estrutural — 'tem todos os campos obrigatórios?'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Classificação — 'a resposta é do tipo esperado?'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Formatação — 'está no formato JSON correto?'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Filtro de qualidade — 'passou no check de segurança?'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são código puro (if/else, regex, schema) — NÃO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falhou? → retry com feedback / fallback / escalada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Tipos de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Trade-off: Latência por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= SOMA de todos os steps (serial)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cada step focado = melhor qualidade que chamada gigante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reduzem retrabalho downstream (capturam erro cedo)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 tarefas com critérios de qualidade verificáveis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 tarefas simples (uma chamada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Curva de ganho marginal: primeiros gates dão muito,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últimos dão pouco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latência/accuracy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Gerar → Revisar → Reescrever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chain(ticket):</a:t>
            </a:r>
            <a:br/>
            <a:r>
              <a:t>    # Step 1: gerar rascunho</a:t>
            </a:r>
            <a:br/>
            <a:r>
              <a:t>    draft = llm("Gere rascunho", ticket)</a:t>
            </a:r>
            <a:br/>
            <a:br/>
            <a:r>
              <a:t>    # Gate 1: validação estrutural</a:t>
            </a:r>
            <a:br/>
            <a:r>
              <a:t>    if not validate_schema(draft,</a:t>
            </a:r>
            <a:br/>
            <a:r>
              <a:t>            fields=["saudacao","corpo","fechamento"]):</a:t>
            </a:r>
            <a:br/>
            <a:r>
              <a:t>        draft = llm("Inclua todos os campos", ticket)</a:t>
            </a:r>
            <a:br/>
            <a:br/>
            <a:r>
              <a:t>    # Step 2: revisar contra critérios</a:t>
            </a:r>
            <a:br/>
            <a:r>
              <a:t>    review = llm("Revise contra critérios", draft)</a:t>
            </a:r>
            <a:br/>
            <a:br/>
            <a:r>
              <a:t>    # Gate 2: score &gt;= threshold</a:t>
            </a:r>
            <a:br/>
            <a:r>
              <a:t>    if review["score"] &lt; 0.8:</a:t>
            </a:r>
            <a:br/>
            <a:r>
              <a:t>        # Step 3: reescrever com feedback</a:t>
            </a:r>
            <a:br/>
            <a:r>
              <a:t>        return llm("Reescreva com feedback",</a:t>
            </a:r>
            <a:br/>
            <a:r>
              <a:t>                   draft, review["feedback"])</a:t>
            </a:r>
            <a:br/>
            <a:r>
              <a:t>    return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prompt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Gate em Tradução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prompt chaining para tradução técnica (EN →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Descreva um gate programático útil entre o step 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tradução e o step de revisão.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pense em verificação ESTRUTURAL, não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(gates são código puro, não 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Formato: discussão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Routing: Classificação e Dispatch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Classificação como Etapa Separada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Router = LLM (ou código) que classifica a entrada em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categoria tem seu próprio tratamento especializado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Separação de concerns: CLASSIFICAR é mais barato que RESOLVER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Router pode ser modelo menor (Haiku)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classify é tarefa simples e barata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12-Diagrams/ETHAGT03/routing.mmd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do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Routing por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para tarefas fáceis (classificação, resumo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barato e rápido (10x mais barato que Sonnet)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Sonnet para tarefas difíceis (raciocínio, código complexo)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caro mas capaz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Economia: 80% dos tickets são fáceis → Haiku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80%×Haiku + 20%×Sonnet &lt;&lt; 100%×Sonnet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classificação errada envia difícil para Haiku → resposta ruim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quando incerto, despachar para Sonnet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Routing por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Routing por Prompt/Tools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modelo, diferentes SYSTEM PROMPTS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de billing → prompt + tools de fatura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técnico → prompt + tools de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geral → prompt genérico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cada path tem CONTEXTO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menos tokens, melhor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router decide qual conjunto de tools/prompt carregar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Routing por prompt/tools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Avaliando a Qualidade do Classificador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router é um CLASSIFICADOR → métricas de classificação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Matriz de confusão: quais categorias confunde?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Precision: dos classificados como X, quantos eram X?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Recall: dos que eram X, quantos o router pegou?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mais caro: falso negativo (difícil → fácil → Haiku → ruim)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Estratégia: quando incerto, enviar para path robusto (Sonnet)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Avaliação do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Routing com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route(ticket):</a:t>
            </a:r>
            <a:br/>
            <a:r>
              <a:t>    # Router classifica</a:t>
            </a:r>
            <a:br/>
            <a:r>
              <a:t>    cat = router_llm(</a:t>
            </a:r>
            <a:br/>
            <a:r>
              <a:t>        "Classifique: tecnico | billing | geral | unknown",</a:t>
            </a:r>
            <a:br/>
            <a:r>
              <a:t>        ticket, response_format="json"</a:t>
            </a:r>
            <a:br/>
            <a:r>
              <a:t>    )["categoria"]</a:t>
            </a:r>
            <a:br/>
            <a:br/>
            <a:r>
              <a:t>    # Handlers especializados</a:t>
            </a:r>
            <a:br/>
            <a:r>
              <a:t>    handlers = {</a:t>
            </a:r>
            <a:br/>
            <a:r>
              <a:t>        "tecnico": lambda t: sonnet(</a:t>
            </a:r>
            <a:br/>
            <a:r>
              <a:t>            PROMPT_TECNICO, t, tools=TOOLS_DOCS),</a:t>
            </a:r>
            <a:br/>
            <a:r>
              <a:t>        "billing": lambda t: sonnet(</a:t>
            </a:r>
            <a:br/>
            <a:r>
              <a:t>            PROMPT_BILLING, t, tools=TOOLS_FATURA),</a:t>
            </a:r>
            <a:br/>
            <a:r>
              <a:t>        "geral":   lambda t: haiku(PROMPT_GERAL, t),</a:t>
            </a:r>
            <a:br/>
            <a:r>
              <a:t>        "unknown": lambda t: sonnet(</a:t>
            </a:r>
            <a:br/>
            <a:r>
              <a:t>            PROMPT_ROBUSTO, t, tools=ALL_TOOLS),</a:t>
            </a:r>
            <a:br/>
            <a:r>
              <a:t>    }</a:t>
            </a:r>
            <a:br/>
            <a:r>
              <a:t>    return handlers.get(cat, handlers["unknown"])(ticket)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Avaliando o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Como saber se o roteador está errando? O que medir?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métrica é mais importante: precision ou recall?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Depende do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Se o router envia 10% dos fáceis para o path difícil,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isso é problema?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min para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Parallelization: Sectioning e Voting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Sectioning: Subtarefas Independentes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dividida em N subtarefas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subtarefa roda em PARALELO (chamadas simultâneas)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 agregados por um REDUCER/sintetizador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revisar código → linter + testes + typecheck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Ganho de latência: max(subtasks) vs sum(subtasks)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 tarefas de 3s: serial=9s, paralelo=3s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12-Diagrams/ETHAGT03/parallelization.mmd (sectioning)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Sectioning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Voting: Mesma Tarefa N Vezes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Mesma tarefa executada N vezes (com temperatura/variação)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Agregação por MAIORIA (classificação) ou SELEÇÃO (geração)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classificação ambígua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geração de código crítico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decisões de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N× o custo base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mas 3×Haiku pode ser mais barato que 1×Sonnet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12-Diagrams/ETHAGT03/parallelization.mmd (voting)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Guardrails em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A: gera a resposta principal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B (paralelo): filtra/modera 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B sinaliza problema → bloqueia ou regenera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quase ZERO adicionada (roda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2× chamadas (mas segurança é crítica em produção)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resposta de suporte + verificação de PII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+ moderação de toxicidade em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PII = Personally Identifiable Information — dados pessoais identificaveis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Guardrails paralelos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 em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julgamentos paralelos de uma saída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reduz VARIÂNCIA do juiz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Usado em pipelines de qualidade antes de entregar ao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viés do juiz é sistemático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votação NÃO resolve viés, só variância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para viés, calibre com rubric estruturada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LLM-as-Judge = uso de um LLM como avaliador automatico de saidas de outro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LLM-as-judge paralelo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Comuns em Parallelization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Dependência oculta: 'independentes' que não 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(step 2 precisa de output de step 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Custo explodindo: N=5 voting × 10 steps = 50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Reducer mal feito: síntese perde informação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Timeout não tratado: uma subtarefa lenta atrasa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medir custo/latência de cada subtarefa DESDE O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Armadilhas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Parallelization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asyncio</a:t>
            </a:r>
            <a:br/>
            <a:br/>
            <a:r>
              <a:t># SECTIONING: subtarefas DIFERENTES em paralelo</a:t>
            </a:r>
            <a:br/>
            <a:r>
              <a:t>async def sectioning(doc):</a:t>
            </a:r>
            <a:br/>
            <a:r>
              <a:t>    parts = split(doc)</a:t>
            </a:r>
            <a:br/>
            <a:r>
              <a:t>    results = await asyncio.gather(</a:t>
            </a:r>
            <a:br/>
            <a:r>
              <a:t>        *[analyze(p) for p in parts]</a:t>
            </a:r>
            <a:br/>
            <a:r>
              <a:t>    )</a:t>
            </a:r>
            <a:br/>
            <a:r>
              <a:t>    return reducer(results)</a:t>
            </a:r>
            <a:br/>
            <a:br/>
            <a:r>
              <a:t># VOTING: MESMA tarefa N vezes com variação</a:t>
            </a:r>
            <a:br/>
            <a:r>
              <a:t>async def voting(question, n=5):</a:t>
            </a:r>
            <a:br/>
            <a:r>
              <a:t>    answers = await asyncio.gather(*[</a:t>
            </a:r>
            <a:br/>
            <a:r>
              <a:t>        llm(question, temperature=0.7 + i*0.05)</a:t>
            </a:r>
            <a:br/>
            <a:r>
              <a:t>        for i in range(n)</a:t>
            </a:r>
            <a:br/>
            <a:r>
              <a:t>    ])</a:t>
            </a:r>
            <a:br/>
            <a:r>
              <a:t>    return majority_vote(answers)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parallelization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Latência Serial vs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Mesma tarefa: 3 chamadas LLM</a:t>
            </a:r>
            <a:br/>
            <a:br/>
            <a:r>
              <a:t># VERSÃO SERIAL (sum)</a:t>
            </a:r>
            <a:br/>
            <a:r>
              <a:t>import time</a:t>
            </a:r>
            <a:br/>
            <a:r>
              <a:t>t0 = time.time()</a:t>
            </a:r>
            <a:br/>
            <a:r>
              <a:t>r1 = await llm("análise A")</a:t>
            </a:r>
            <a:br/>
            <a:r>
              <a:t>r2 = await llm("análise B")</a:t>
            </a:r>
            <a:br/>
            <a:r>
              <a:t>r3 = await llm("análise C")</a:t>
            </a:r>
            <a:br/>
            <a:r>
              <a:t>t_serial = time.time() - t0</a:t>
            </a:r>
            <a:br/>
            <a:r>
              <a:t># → ~9.0s (3 + 3 + 3)</a:t>
            </a:r>
            <a:br/>
            <a:br/>
            <a:r>
              <a:t># VERSÃO PARALELA (max)</a:t>
            </a:r>
            <a:br/>
            <a:r>
              <a:t>t0 = time.time()</a:t>
            </a:r>
            <a:br/>
            <a:r>
              <a:t>results = await asyncio.gather(</a:t>
            </a:r>
            <a:br/>
            <a:r>
              <a:t>    llm("análise A"),</a:t>
            </a:r>
            <a:br/>
            <a:r>
              <a:t>    llm("análise B"),</a:t>
            </a:r>
            <a:br/>
            <a:r>
              <a:t>    llm("análise C"),</a:t>
            </a:r>
            <a:br/>
            <a:r>
              <a:t>)</a:t>
            </a:r>
            <a:br/>
            <a:r>
              <a:t>t_parallel = time.time() - t0</a:t>
            </a:r>
            <a:br/>
            <a:r>
              <a:t># → ~3.0s (max dos três)</a:t>
            </a:r>
            <a:br/>
            <a:br/>
            <a:r>
              <a:t>print(f"Serial:   {t_serial:.1f}s")</a:t>
            </a:r>
            <a:br/>
            <a:r>
              <a:t>print(f"Paralelo: {t_parallel:.1f}s")</a:t>
            </a:r>
            <a:br/>
            <a:r>
              <a:t>print(f"Custo: IDÊNTICO nos dois casos")</a:t>
            </a:r>
            <a:br/>
            <a:r>
              <a:t>print(f"Lição: paralelismo NÃO reduz custo, reduz LATÊNCIA")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Voting vs Sectioning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vote: Sectioning (S) ou Voting (V)?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Traduzir 3 páginas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Decidir se um email é phishing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Gerar 3 alternativas de copy para anúncio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1=S, 2=V, 3=S (mas voting para escolher a melhor)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Orchestrator-Workers: Delegação Dinâmica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Distinção Chave: Subtarefas Dinâmicas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Parallelization (FIXAS)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Subtarefas CONHECIDAS a priori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Você escreve N funções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Roda em paralelo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Simples, barato, previsível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3 fontes fixas de 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Orchestrator-Workers (DINÂMICAS)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Subtarefas NÃO conhecidas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LLM orquestrador define em runtime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Número e tipo variam por input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Flexível, mas mais caro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fontes emergem do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Distinção crítica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Orquestrador: Planejar + Sintetizar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1 — PLANEJAR: LLM decompõe a tarefa em subtarefas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2 — DELEGAR: despacha cada subtarefa para um worker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3 — SINTETIZAR: agrega resultados em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orquestrador NÃO executa subtarefas — ele COORDENA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= LLMs com prompts/tools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Separação de planejamento e execução = qualidade (Plan-and-Solve)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Papéis do orquestrador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Implementação: Decomposição + Workers + Reducer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1: DECOMPOSITOR (LLM com prompt de planejamento)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2: WORKERS (pool de LLMs especializados)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3: REDUCER (LLM que agrega)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Estado: lista de subtarefas + resultados parciais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papers: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Plan-and-Solve (arXiv:2305.17126) — separar planejar/executar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ReWOO (arXiv:2305.04091) — plano cego + paralelismo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LLMCompiler (arXiv:2310.01757) — paralelização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12-Diagrams/ETHAGT03/orchestrator-workers.mmd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ReWOO = Reasoning WithOut Observation — raciocinio sem observacao intermediaria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orchestrator-workers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Coding em múltiplos arquivos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decide quais arquivos criar/modificar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Search em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decide quais fontes consultar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Relatório multi-fonte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divide por tópico, workers pesquisam, reducer sintetiza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comum: 'não sei quantos steps vou precisar'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As subtarefas EMERGEM do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Casos de uso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Orchestrator-Workers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async def orchestrate(task):</a:t>
            </a:r>
            <a:br/>
            <a:r>
              <a:t>    # Fase 1: PLANEJAR (LLM decompõe)</a:t>
            </a:r>
            <a:br/>
            <a:r>
              <a:t>    plan = await planner_llm(</a:t>
            </a:r>
            <a:br/>
            <a:r>
              <a:t>        "Decomponha em subtarefas", task</a:t>
            </a:r>
            <a:br/>
            <a:r>
              <a:t>    )</a:t>
            </a:r>
            <a:br/>
            <a:r>
              <a:t>    subtasks = plan["subtasks"]</a:t>
            </a:r>
            <a:br/>
            <a:br/>
            <a:r>
              <a:t>    # Fase 2: DELEGAR (workers em paralelo)</a:t>
            </a:r>
            <a:br/>
            <a:r>
              <a:t>    results = await asyncio.gather(</a:t>
            </a:r>
            <a:br/>
            <a:r>
              <a:t>        *[worker(sub) for sub in subtasks]</a:t>
            </a:r>
            <a:br/>
            <a:r>
              <a:t>    )</a:t>
            </a:r>
            <a:br/>
            <a:br/>
            <a:r>
              <a:t>    # Fase 3: SINTETIZAR (LLM integra)</a:t>
            </a:r>
            <a:br/>
            <a:r>
              <a:t>    return await synthesizer_llm(</a:t>
            </a:r>
            <a:br/>
            <a:r>
              <a:t>        "Integre os resultados", task, results</a:t>
            </a:r>
            <a:br/>
            <a: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orchestrator-workers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V/F: Orchestrator-Workers É Sempre Melhor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'Orchestrator-workers é sempre melhor que parallelization.'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quê: se subtarefas são FIXAS e conhecidas,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 é mais simples, barato e previsível.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 adiciona custo (LLM de planejamento)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latência (step extra 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só use orchestrator quando subtarefas 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genuinamente DINÂMICAS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Evaluator-Optimizer: Loop de Refinamento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Loop: Gerar → Avaliar → Refinar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1: LLM gera saída (GENERATOR)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2: LLM (ou código) avalia contra critérios (EVALUATOR)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3: Se abaixo do critério → LLM refina com feedback (OPTIMIZER)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até CRITÉRIO DE PARADA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de ReAct: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ReAct = pensar-agir-observar (ambiente externo)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 = gerar-avaliar-refinar (critério interno)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12-Diagrams/ETHAGT03/evaluator-optimizer.mmd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padrao de loop Thought / Action /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Estrutura do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Tem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condições devem ser VERDADEIRAS: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Feedback é ARTICULÁVEL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(LLM explica O QUE está errado, não só QUE está)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LLM consegue AVALIAR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(existe critério objetivo ou near-objetivo)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Iteração MELHORA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(nem sempre — às vezes o modelo trava)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use se: evaluator não é melhor que generator → diverge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Funciona: tradução literária (feedback sobre tom, ritmo)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funciona: 'seja mais criativo' (não-articulável)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usar 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Critérios Claros e Mensuráveis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VAGO: 'a resposta é boa' → não converge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CLARO: 'cita ≥3 fontes, ≤500 palavras,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inclui recomendação'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RUBRIC ESTRUTURADA: dimensão → escala → descrição por nível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— tradução: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Fidelidade: 1-5 (5 = preserva tom e ritmo)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Fluência: 1-5 (5 = natural em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Terminologia: 1-5 (5 = glossário correto)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LLM-as-judge COM rubric &gt;&gt;&gt; SEM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Rubric estruturada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Convergência: Critérios de 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1 — SCORE: parar quando ≥ threshold (ex.: 4.5/5)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2 — MAX ITERS: parar após N (ex.: 5) — orçamento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3 — DELTA ESTAGNADO: score não melhora por 2 iters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usar ≥2 critérios (score OU max iters, no mínimo)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max iters → loop explode em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score → para por orçamento, talvez antes da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cada iteração = generator + evaluator = 2× chamadas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Condições de parada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Evaluator-Optimizer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evaluate_optimize(task, max_iters=5, threshold=4.5):</a:t>
            </a:r>
            <a:br/>
            <a:r>
              <a:t>    output = generator(task)</a:t>
            </a:r>
            <a:br/>
            <a:r>
              <a:t>    prev_score = 0</a:t>
            </a:r>
            <a:br/>
            <a:br/>
            <a:r>
              <a:t>    for i in range(max_iters):</a:t>
            </a:r>
            <a:br/>
            <a:r>
              <a:t>        # Evaluator avalia com rubric</a:t>
            </a:r>
            <a:br/>
            <a:r>
              <a:t>        result = evaluator(output, rubric=RUBRIC)</a:t>
            </a:r>
            <a:br/>
            <a:br/>
            <a:r>
              <a:t>        # Parada 1: score &gt;= threshold</a:t>
            </a:r>
            <a:br/>
            <a:r>
              <a:t>        if result["score"] &gt;= threshold:</a:t>
            </a:r>
            <a:br/>
            <a:r>
              <a:t>            return output</a:t>
            </a:r>
            <a:br/>
            <a:br/>
            <a:r>
              <a:t>        # Parada 2: delta estagnado</a:t>
            </a:r>
            <a:br/>
            <a:r>
              <a:t>        if abs(result["score"] - prev_score) &lt; 0.1:</a:t>
            </a:r>
            <a:br/>
            <a:r>
              <a:t>            return output</a:t>
            </a:r>
            <a:br/>
            <a:br/>
            <a:r>
              <a:t>        # Optimizer refina com feedback</a:t>
            </a:r>
            <a:br/>
            <a:r>
              <a:t>        output = optimizer(task, output, result["feedback"])</a:t>
            </a:r>
            <a:br/>
            <a:r>
              <a:t>        prev_score = result["score"]</a:t>
            </a:r>
            <a:br/>
            <a:br/>
            <a:r>
              <a:t>    # Parada 3: max iters</a:t>
            </a:r>
            <a:br/>
            <a:r>
              <a:t>    return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Condição de Parada para Tradução Literária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evaluator-optimizer para tradução de um poema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(EN →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Escreva a condição de parada.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Quais critérios?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Qual threshold?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Quantas iterações máximas?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tradução literária é subjetiva —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evitar loop infinito?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Composições e Limites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Composição Típica: Routing → Parallelization → Evaluator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1 — ROUTING: classifica entrada (tipo de ticket)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2 — PARALLELIZATION: subtarefas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(buscar FAQ + docs + histórico simultaneamente)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3 — EVALUATOR-OPTIMIZER: valida resposta antes de entregar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camada resolve um problema DIFERENTE: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= custo (modelo certo)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parallelization = latência (subtarefas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 = qualidade (validação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Outras: chaining + evaluator; routing + orchestrator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12-Diagrams/ETHAGT03/composition-routing-parallel-evaluator.mmd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Composição de 3 camadas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Combinar Vira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 composto: camadas FIXAS, ordem PREDEFINIDA,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gates determinísticos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Agente: LLM decide ordem, se itera, se busca mais info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linha é TÊNUE: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+ loops + branches condicionais suficientes...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...em algum ponto, vira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de transição: workflow precisa de 'meta-step'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 decide QUAL caminho seguir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(Reasoning &amp; Planning) aprofunda essa ponte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Fronteira workflow/agente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Sinais de Que Você Está Forçando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Gates cada vez mais complexos para cobrir casos especiais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Número de branches no routing cresce sem parar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Precisa de 'loops dentro de loops' para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Evaluator precisa de contexto que generator não teve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Descrição do fluxo: 'depende do que acontecer no step anterior'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→ Esses sinais indicam: o problema pede AGENTE, não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Sinais de alerta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Trade-offs Consolidados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      Previsib.  Flexib.  Custo     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Chaining:   Alta       Baixa    Médio      Alta (serial)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          Alta       Média    Baixo     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Parallelization:   Alta       Média    Alto (N×)  Baixa (max)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Orchestrator-W:    Média      Alta     Alto       Média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Evaluator-Opt:     Alta       Média    Alto(loop)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Escolha pelas RESTRIÇÕES do problema: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→ routing | latência → parallelization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flexibilidade → orchestrator | qualidade → evaluator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linearidade → chaining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Matriz de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Coinbase / Intercom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Coinbase / Intercom: workflows agênticos em suporte ao cliente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típica: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(classificar ticket)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parallelization (buscar fontes: KB, docs, histórico)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evaluator-optimizer (validar resposta)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Resultados: redução de tempo de resposta, escalabilidade,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controlado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workflow composto &gt; agente autônomo para suporte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(previsibilidade importa em escala)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09-CaseStudies/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 de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5 padrões canônicos: chaining, routing, parallelization,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orchestrator-workers, evaluator-optimizer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Gates programáticos = controle DETERMINÍSTICO em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Parallelization: sectioning (independentes) vs voting (robustez)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Orchestrator-Workers: subtarefas DINÂMICAS (vs fixas)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Evaluator-Optimizer: critérios claros + convergência mensurável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Composição = realidade; mas quando vira agente, mude de módulo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COMECE SIMPLES, só aumente com evidência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o princípio 'comece simples'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Detalhou os 5 padrões canônicos com diagramas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Mostrou código de cada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gates programáticos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parallelization vs orchestrator-workers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Apresentou critérios de convergência do evaluator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composições e quando workflow vira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Confirmação de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diferença fundamental entre parallelization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orchestrator-workers?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Orchestrator-workers é mais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Parallelization usa modelos menores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Em orchestrator-workers, as subtarefas são DINÂMICAS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(definidas em runtime)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Parallelization não tem reducer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um gate em prompt chaining?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 modelo LLM que decide se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Um checkpoint PROGRAMÁTICO (código) que valida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a saída antes do próximo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Um tipo de prompt especial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Um framework de orquestração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o evaluator-optimizer NÃO vale a pena?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Quando o feedback é articulável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o evaluator não é melhor que o generator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há orçamento para múltiplas iterações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a tarefa tem critérios objetivos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routing por modelo, qual é o erro mais caro?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Enviar tarefa fácil para modelo forte (Sonnet)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Enviar tarefa difícil para modelo fraco (Haiku)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Usar o mesmo modelo para todas as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Ter apenas 2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Escolha o Workflow (5 Cenários)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indique o workflow + justifique: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Tradução com revisão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Análise de sentimentos de 10.000 tweets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Geração de relatório com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Chatbot de FAQ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Correção de redação com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Grupos: 3 min discussão, 2 min compartilhar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1=Chaining+Evaluator | 2=Routing+Sectioning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3=Orchestrator | 4=Routing | 5=Evaluator-Optimizer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 +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síntese de relatório a partir de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Projetar e implementar workflow composto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Comparar 2 abordagens (ex.: chaining vs orchestrator)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Entrega: código + benchmark + ADR justificando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Critério: ADR coerente; medições em ≥20 casos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(5h): 'Os 5 em 1 dia'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Versões mínimas dos 5 workflows em domínio comum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'Composição'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→ parallelization (3 workers) → evaluator-optimizer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Projeto e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 +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Próximos módulos: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ETHAGT04 — Reasoning &amp; Planning (quando workflow não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ETHAGT09 — Multi-Agente (orchestrator expandido)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ETHAGT10 — Orquestração em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obrigatória: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Papers: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Plan-and-Solve (arXiv:2305.17126)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ReWOO (arXiv:2305.04091)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LLMCompiler (arXiv:2310.01757)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Vídeo: Schluntz &amp; Albert (YouTube)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Referências e 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ETHAGT03 — Padrões de Workflow Agêntico</a:t>
            </a:r>
            <a:br/>
            <a:r>
              <a:t>Próxima aula: ETHAGT04 — Reasoning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